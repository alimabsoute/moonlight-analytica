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Active Users (K)</c:v>
                </c:pt>
              </c:strCache>
            </c:strRef>
          </c:tx>
          <c:spPr>
            <a:solidFill>
              <a:srgbClr val="FF6B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Oct '25</c:v>
                  </c:pt>
                  <c:pt idx="1">
                    <c:v>Nov '25</c:v>
                  </c:pt>
                  <c:pt idx="2">
                    <c:v>Dec '25</c:v>
                  </c:pt>
                  <c:pt idx="3">
                    <c:v>Jan '26</c:v>
                  </c:pt>
                  <c:pt idx="4">
                    <c:v>Feb '26</c:v>
                  </c:pt>
                  <c:pt idx="5">
                    <c:v>Mar '26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2.1</c:v>
                </c:pt>
                <c:pt idx="1">
                  <c:v>4.8</c:v>
                </c:pt>
                <c:pt idx="2">
                  <c:v>8.5</c:v>
                </c:pt>
                <c:pt idx="3">
                  <c:v>14.2</c:v>
                </c:pt>
                <c:pt idx="4">
                  <c:v>22.6</c:v>
                </c:pt>
                <c:pt idx="5">
                  <c:v>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92A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A407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92A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24295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FF6B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F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</c:v>
                  </c:pt>
                  <c:pt idx="4">
                    <c:v>2030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1.2</c:v>
                </c:pt>
                <c:pt idx="1">
                  <c:v>5.8</c:v>
                </c:pt>
                <c:pt idx="2">
                  <c:v>18.5</c:v>
                </c:pt>
                <c:pt idx="3">
                  <c:v>42</c:v>
                </c:pt>
                <c:pt idx="4">
                  <c:v>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1F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0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C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0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2286000"/>
            <a:ext cx="5486400" cy="5486400"/>
          </a:xfrm>
          <a:prstGeom prst="ellipse">
            <a:avLst/>
          </a:prstGeom>
          <a:solidFill>
            <a:srgbClr val="FF6B6B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FF6B6B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spc="4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Tastyr IQ</a:t>
            </a:r>
            <a:endParaRPr lang="en-US" sz="5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2344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2860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creating an entirely new data category.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31520" y="3108960"/>
            <a:ext cx="2286000" cy="0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3383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Dish Intelligence: The Missing Layer of the Food Industry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4389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 |  March 2026  |  Confidential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20 years, the food industry has rated the wrong thing.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0292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92808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647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Restaurant Fallacy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08760" y="21305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rate restaurants. But people eat dishes. The entire data model of the food industry is built on the wrong unit of analysis.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" y="2743200"/>
            <a:ext cx="50292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944368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28163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Data Layer Exists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508760" y="31821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have Rotten Tomatoes. Music has Spotify. Hotels have star ratings per room type. Food has nothing at the dish level.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40080" y="3794760"/>
            <a:ext cx="50292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995928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38679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$371B Industry, Data-Blind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508760" y="42336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consumer industry in America has zero standardized data infrastructure for its core product: the dish.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217920" y="1691640"/>
            <a:ext cx="2468880" cy="2971800"/>
          </a:xfrm>
          <a:prstGeom prst="rect">
            <a:avLst/>
          </a:prstGeom>
          <a:solidFill>
            <a:srgbClr val="1A1F3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6217920" y="20116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 yrs</a:t>
            </a:r>
            <a:endParaRPr lang="en-US" sz="5400" dirty="0"/>
          </a:p>
        </p:txBody>
      </p:sp>
      <p:sp>
        <p:nvSpPr>
          <p:cNvPr id="19" name="Text 14"/>
          <p:cNvSpPr/>
          <p:nvPr/>
        </p:nvSpPr>
        <p:spPr>
          <a:xfrm>
            <a:off x="6492240" y="30175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rating restaurants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we should have been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dishes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492240" y="4114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paradigm is about to shift.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Solution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Tastyr IQ is creating dish intelligence -- an entirely new data category that will become infrastructure for the food industry.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94360" cy="59436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02996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74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New Data Category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17320" y="2240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Dish intelligence does not exist today. We are building the foundational data layer that the entire food ecosystem will depend on.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46320" y="1920240"/>
            <a:ext cx="594360" cy="59436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2029968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23560" y="1874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Patent-Pending AI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623560" y="2240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proprietary scoring algorithm is patent-pending. Category ownership through intellectual property, not just execution speed.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40080" y="3383280"/>
            <a:ext cx="594360" cy="59436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493008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3337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Three-Sided Marketplace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417320" y="37033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discover. Restaurants optimize. Data partners license. Three value streams from one intelligence platform.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846320" y="3383280"/>
            <a:ext cx="594360" cy="59436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3493008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623560" y="3337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 Verticals Deep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5623560" y="37033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horizontal play. Deep vertical expertise across 9 cuisines, understanding what excellence means in each category.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Overview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3291840" cy="3474720"/>
          </a:xfrm>
          <a:prstGeom prst="rect">
            <a:avLst/>
          </a:prstGeom>
          <a:solidFill>
            <a:srgbClr val="1A1F3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63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600" kern="0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TASTYR IQ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05840" y="2103120"/>
            <a:ext cx="2560320" cy="320040"/>
          </a:xfrm>
          <a:prstGeom prst="rect">
            <a:avLst/>
          </a:prstGeom>
          <a:solidFill>
            <a:srgbClr val="2A3058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103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the best dishes...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05840" y="2651760"/>
            <a:ext cx="2560320" cy="502920"/>
          </a:xfrm>
          <a:prstGeom prst="rect">
            <a:avLst/>
          </a:prstGeom>
          <a:solidFill>
            <a:srgbClr val="2A3058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26700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Wagyu Beef Tartare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43000" y="29077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Italian  ★ 4.9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154680" y="2743200"/>
            <a:ext cx="320040" cy="32004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2" name="Text 10"/>
          <p:cNvSpPr/>
          <p:nvPr/>
        </p:nvSpPr>
        <p:spPr>
          <a:xfrm>
            <a:off x="3154680" y="2743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4.9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005840" y="3291840"/>
            <a:ext cx="2560320" cy="502920"/>
          </a:xfrm>
          <a:prstGeom prst="rect">
            <a:avLst/>
          </a:prstGeom>
          <a:solidFill>
            <a:srgbClr val="2A3058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33101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Sakura Garden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43000" y="35478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  ★ 4.8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154680" y="3383280"/>
            <a:ext cx="320040" cy="32004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7" name="Text 15"/>
          <p:cNvSpPr/>
          <p:nvPr/>
        </p:nvSpPr>
        <p:spPr>
          <a:xfrm>
            <a:off x="3154680" y="3383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4.8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005840" y="3931920"/>
            <a:ext cx="2560320" cy="502920"/>
          </a:xfrm>
          <a:prstGeom prst="rect">
            <a:avLst/>
          </a:prstGeom>
          <a:solidFill>
            <a:srgbClr val="2A3058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39502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Blue Agave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43000" y="41879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Mexican  ★ 4.7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154680" y="4023360"/>
            <a:ext cx="320040" cy="320040"/>
          </a:xfrm>
          <a:prstGeom prst="ellipse">
            <a:avLst/>
          </a:prstGeom>
          <a:solidFill>
            <a:srgbClr val="7C5CFC"/>
          </a:solidFill>
          <a:ln/>
        </p:spPr>
      </p:sp>
      <p:sp>
        <p:nvSpPr>
          <p:cNvPr id="22" name="Text 20"/>
          <p:cNvSpPr/>
          <p:nvPr/>
        </p:nvSpPr>
        <p:spPr>
          <a:xfrm>
            <a:off x="3154680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4.7</a:t>
            </a:r>
            <a:endParaRPr lang="en-US" sz="9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1325880"/>
            <a:ext cx="274320" cy="27432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4800600" y="1280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Trust Score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800600" y="162763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review gets an authenticity score powered by our proprietary ML model</a:t>
            </a:r>
            <a:endParaRPr lang="en-US" sz="110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2194560"/>
            <a:ext cx="274320" cy="27432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4800600" y="2148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Taste DNA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4800600" y="249631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preference profile — get recommendations that actually match your taste</a:t>
            </a:r>
            <a:endParaRPr lang="en-US" sz="110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3063240"/>
            <a:ext cx="274320" cy="27432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4800600" y="3017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 Pulse</a:t>
            </a:r>
            <a:endParaRPr lang="en-US" sz="1400" dirty="0"/>
          </a:p>
        </p:txBody>
      </p:sp>
      <p:sp>
        <p:nvSpPr>
          <p:cNvPr id="31" name="Text 26"/>
          <p:cNvSpPr/>
          <p:nvPr/>
        </p:nvSpPr>
        <p:spPr>
          <a:xfrm>
            <a:off x="4800600" y="336499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trending spots, new openings, and neighborhood activity feed</a:t>
            </a:r>
            <a:endParaRPr lang="en-US" sz="11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3931920"/>
            <a:ext cx="274320" cy="27432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4800600" y="38862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Dashboard</a:t>
            </a:r>
            <a:endParaRPr lang="en-US" sz="1400" dirty="0"/>
          </a:p>
        </p:txBody>
      </p:sp>
      <p:sp>
        <p:nvSpPr>
          <p:cNvPr id="34" name="Text 28"/>
          <p:cNvSpPr/>
          <p:nvPr/>
        </p:nvSpPr>
        <p:spPr>
          <a:xfrm>
            <a:off x="4800600" y="423367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analytics for businesses — foot traffic, sentiment analysis, competitor benchmarks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Opportunity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2377440" cy="2377440"/>
          </a:xfrm>
          <a:prstGeom prst="ellipse">
            <a:avLst/>
          </a:prstGeom>
          <a:solidFill>
            <a:srgbClr val="1A1F3D">
              <a:alpha val="88000"/>
            </a:srgbClr>
          </a:solidFill>
          <a:ln w="25400">
            <a:solidFill>
              <a:srgbClr val="1A1F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65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EC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$371B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restaurant industry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dish-level data today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0" y="1600200"/>
            <a:ext cx="1920240" cy="1920240"/>
          </a:xfrm>
          <a:prstGeom prst="ellipse">
            <a:avLst/>
          </a:prstGeom>
          <a:solidFill>
            <a:srgbClr val="FF6B6B">
              <a:alpha val="88000"/>
            </a:srgbClr>
          </a:solidFill>
          <a:ln w="25400">
            <a:solidFill>
              <a:srgbClr val="FF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1965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0" y="22860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$23B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657600" y="28346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tech market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dish intelligence player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828800"/>
            <a:ext cx="1463040" cy="1463040"/>
          </a:xfrm>
          <a:prstGeom prst="ellipse">
            <a:avLst/>
          </a:prstGeom>
          <a:solidFill>
            <a:srgbClr val="2EC4B6">
              <a:alpha val="88000"/>
            </a:srgbClr>
          </a:solidFill>
          <a:ln w="25400">
            <a:solidFill>
              <a:srgbClr val="2EC4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965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35040" y="22860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$2.3B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035040" y="28346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category: dish intelligence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define the market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4114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not entering a market. We are creating one.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Model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3840480" cy="1554480"/>
          </a:xfrm>
          <a:prstGeom prst="rect">
            <a:avLst/>
          </a:prstGeom>
          <a:solidFill>
            <a:srgbClr val="24295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508760"/>
            <a:ext cx="502920" cy="50292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61848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474720" y="14173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35%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554480" y="1536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Consumer Platform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20574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dish discovery at $4.99/mo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Category-defining consumer product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846320" y="1280160"/>
            <a:ext cx="3840480" cy="1554480"/>
          </a:xfrm>
          <a:prstGeom prst="rect">
            <a:avLst/>
          </a:prstGeom>
          <a:solidFill>
            <a:srgbClr val="24295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074920" y="1508760"/>
            <a:ext cx="502920" cy="50292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648" y="1618488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80960" y="14173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35%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5760720" y="1536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Restaurant Intelligence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074920" y="20574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$500/mo dish analytics SaaS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optimization &amp; benchmarking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40080" y="3108960"/>
            <a:ext cx="3840480" cy="1554480"/>
          </a:xfrm>
          <a:prstGeom prst="rect">
            <a:avLst/>
          </a:prstGeom>
          <a:solidFill>
            <a:srgbClr val="24295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68680" y="3337560"/>
            <a:ext cx="502920" cy="50292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3447288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474720" y="32461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20%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1554480" y="33649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Infrastructure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68680" y="38862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dish intelligence to the food ecosystem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Delivery, CPG, hospitality, media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846320" y="3108960"/>
            <a:ext cx="3840480" cy="1554480"/>
          </a:xfrm>
          <a:prstGeom prst="rect">
            <a:avLst/>
          </a:prstGeom>
          <a:solidFill>
            <a:srgbClr val="24295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074920" y="3337560"/>
            <a:ext cx="502920" cy="50292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4648" y="3447288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680960" y="32461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10%</a:t>
            </a:r>
            <a:endParaRPr lang="en-US" sz="2200" dirty="0"/>
          </a:p>
        </p:txBody>
      </p:sp>
      <p:sp>
        <p:nvSpPr>
          <p:cNvPr id="26" name="Text 20"/>
          <p:cNvSpPr/>
          <p:nvPr/>
        </p:nvSpPr>
        <p:spPr>
          <a:xfrm>
            <a:off x="5760720" y="33649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 Services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5074920" y="38862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Promoted dishes, integrations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revenue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Competitive Landscape</a:t>
            </a:r>
            <a:endParaRPr lang="en-US" sz="3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78638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371600"/>
                <a:gridCol w="1371600"/>
                <a:gridCol w="1554480"/>
                <a:gridCol w="155448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Feature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Locale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Yelp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Google Maps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TripAdvisor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Review Verification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Personalized Recs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Business Analytics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Pay-to-Play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Trending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 Integration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Community Trust 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389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competition because this category does not exist yet. We are building it.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Go-to-Market Strategy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88720"/>
            <a:ext cx="2560320" cy="7315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17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Q2-Q4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46888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Philadelphia is our laboratory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dish intelligence has value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founding users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restaurant data partnerships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118872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0" y="1188720"/>
            <a:ext cx="2560320" cy="73152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1417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0" y="1691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0" y="2057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0" y="246888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Tri-state expansion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awareness campaign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data licensing partnerships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recognition and press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118872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1188720"/>
            <a:ext cx="2560320" cy="73152"/>
          </a:xfrm>
          <a:prstGeom prst="rect">
            <a:avLst/>
          </a:prstGeom>
          <a:solidFill>
            <a:srgbClr val="7C5CFC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1417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92240" y="1691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Lead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92240" y="2057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2028-2029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92240" y="246888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National: the nation is our market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leadership cemented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Dish intelligence becomes industry standard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acquisition interest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Traction &amp; Milestones</a:t>
            </a:r>
            <a:endParaRPr lang="en-US" sz="3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45720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114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creation in progress.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0" y="1188720"/>
            <a:ext cx="3200400" cy="530352"/>
          </a:xfrm>
          <a:prstGeom prst="rect">
            <a:avLst/>
          </a:prstGeom>
          <a:solidFill>
            <a:srgbClr val="242955"/>
          </a:solidFill>
          <a:ln/>
        </p:spPr>
      </p:sp>
      <p:sp>
        <p:nvSpPr>
          <p:cNvPr id="7" name="Text 4"/>
          <p:cNvSpPr/>
          <p:nvPr/>
        </p:nvSpPr>
        <p:spPr>
          <a:xfrm>
            <a:off x="5669280" y="123444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2,490+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858000" y="123444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Dishes in Intelligence Layer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0" y="1847088"/>
            <a:ext cx="3200400" cy="530352"/>
          </a:xfrm>
          <a:prstGeom prst="rect">
            <a:avLst/>
          </a:prstGeom>
          <a:solidFill>
            <a:srgbClr val="242955"/>
          </a:solidFill>
          <a:ln/>
        </p:spPr>
      </p:sp>
      <p:sp>
        <p:nvSpPr>
          <p:cNvPr id="10" name="Text 7"/>
          <p:cNvSpPr/>
          <p:nvPr/>
        </p:nvSpPr>
        <p:spPr>
          <a:xfrm>
            <a:off x="5669280" y="189280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858000" y="189280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Cuisine Verticals Deep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0" y="2505456"/>
            <a:ext cx="3200400" cy="530352"/>
          </a:xfrm>
          <a:prstGeom prst="rect">
            <a:avLst/>
          </a:prstGeom>
          <a:solidFill>
            <a:srgbClr val="242955"/>
          </a:solidFill>
          <a:ln/>
        </p:spPr>
      </p:sp>
      <p:sp>
        <p:nvSpPr>
          <p:cNvPr id="13" name="Text 10"/>
          <p:cNvSpPr/>
          <p:nvPr/>
        </p:nvSpPr>
        <p:spPr>
          <a:xfrm>
            <a:off x="5669280" y="2551176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Patent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858000" y="255117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= Category Ownership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0" y="3163824"/>
            <a:ext cx="3200400" cy="530352"/>
          </a:xfrm>
          <a:prstGeom prst="rect">
            <a:avLst/>
          </a:prstGeom>
          <a:solidFill>
            <a:srgbClr val="242955"/>
          </a:solidFill>
          <a:ln/>
        </p:spPr>
      </p:sp>
      <p:sp>
        <p:nvSpPr>
          <p:cNvPr id="16" name="Text 13"/>
          <p:cNvSpPr/>
          <p:nvPr/>
        </p:nvSpPr>
        <p:spPr>
          <a:xfrm>
            <a:off x="5669280" y="3209544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93K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6858000" y="320954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Code = Serious Engineering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0" y="3822192"/>
            <a:ext cx="3200400" cy="530352"/>
          </a:xfrm>
          <a:prstGeom prst="rect">
            <a:avLst/>
          </a:prstGeom>
          <a:solidFill>
            <a:srgbClr val="242955"/>
          </a:solidFill>
          <a:ln/>
        </p:spPr>
      </p:sp>
      <p:sp>
        <p:nvSpPr>
          <p:cNvPr id="19" name="Text 16"/>
          <p:cNvSpPr/>
          <p:nvPr/>
        </p:nvSpPr>
        <p:spPr>
          <a:xfrm>
            <a:off x="5669280" y="386791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6858000" y="386791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 + TestFlight Beta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Team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2024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417320"/>
            <a:ext cx="914400" cy="914400"/>
          </a:xfrm>
          <a:prstGeom prst="ellipse">
            <a:avLst/>
          </a:prstGeom>
          <a:solidFill>
            <a:srgbClr val="1A1F3D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417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2468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Nik Amin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788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&amp; Co-Founder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31546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 Area engineer who chose to build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93K lines of code, patent-pending AI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06040" y="1188720"/>
            <a:ext cx="192024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08960" y="1417320"/>
            <a:ext cx="914400" cy="914400"/>
          </a:xfrm>
          <a:prstGeom prst="ellipse">
            <a:avLst/>
          </a:prstGeom>
          <a:solidFill>
            <a:srgbClr val="1A1F3D"/>
          </a:solidFill>
          <a:ln/>
        </p:spPr>
      </p:sp>
      <p:sp>
        <p:nvSpPr>
          <p:cNvPr id="12" name="Text 10"/>
          <p:cNvSpPr/>
          <p:nvPr/>
        </p:nvSpPr>
        <p:spPr>
          <a:xfrm>
            <a:off x="3108960" y="1417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743200" y="2468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Ali Mabsoute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0" y="2788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CMO &amp; Co-Founder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43200" y="31546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UPenn grad who chose Philadelphia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Hyatt, Citi, AmEx -- 15yr market expertise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1188720"/>
            <a:ext cx="192024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57800" y="1417320"/>
            <a:ext cx="914400" cy="914400"/>
          </a:xfrm>
          <a:prstGeom prst="ellipse">
            <a:avLst/>
          </a:prstGeom>
          <a:solidFill>
            <a:srgbClr val="1A1F3D"/>
          </a:solidFill>
          <a:ln/>
        </p:spPr>
      </p:sp>
      <p:sp>
        <p:nvSpPr>
          <p:cNvPr id="18" name="Text 16"/>
          <p:cNvSpPr/>
          <p:nvPr/>
        </p:nvSpPr>
        <p:spPr>
          <a:xfrm>
            <a:off x="5257800" y="1417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/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892040" y="2468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/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2788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92040" y="31546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903720" y="1188720"/>
            <a:ext cx="192024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406640" y="1417320"/>
            <a:ext cx="914400" cy="914400"/>
          </a:xfrm>
          <a:prstGeom prst="ellipse">
            <a:avLst/>
          </a:prstGeom>
          <a:solidFill>
            <a:srgbClr val="1A1F3D"/>
          </a:solidFill>
          <a:ln/>
        </p:spPr>
      </p:sp>
      <p:sp>
        <p:nvSpPr>
          <p:cNvPr id="24" name="Text 22"/>
          <p:cNvSpPr/>
          <p:nvPr/>
        </p:nvSpPr>
        <p:spPr>
          <a:xfrm>
            <a:off x="7406640" y="1417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/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040880" y="2468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/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040880" y="2788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040880" y="31546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" y="4480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UPenn-adjacent grad and a Bay Area engineer chose to build dish intelligence from Philadelphia. This is a founding story.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Financial Projections</a:t>
            </a:r>
            <a:endParaRPr lang="en-US" sz="3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97280"/>
          <a:ext cx="50292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280160"/>
            <a:ext cx="1371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760720" y="135331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$120K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760720" y="17556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ARR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760720" y="2286000"/>
            <a:ext cx="1371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760720" y="235915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$1.2M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760720" y="27614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ARR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760720" y="3291840"/>
            <a:ext cx="1371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760720" y="336499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$18M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760720" y="37673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 ARR (Target)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7315200" y="1280160"/>
            <a:ext cx="1371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315200" y="135331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70%+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315200" y="17556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7315200" y="2286000"/>
            <a:ext cx="1371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315200" y="235915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months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315200" y="27614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Payback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7315200" y="3291840"/>
            <a:ext cx="1371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7315200" y="336499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6.5x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315200" y="37673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LTV:CAC Ratio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40080" y="4297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to category leadership  |  First-mover economics in a new data category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114800" y="3474720"/>
            <a:ext cx="4572000" cy="4572000"/>
          </a:xfrm>
          <a:prstGeom prst="ellipse">
            <a:avLst/>
          </a:prstGeom>
          <a:solidFill>
            <a:srgbClr val="FF6B6B">
              <a:alpha val="8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Ask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$500K - $1.5M Seed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$3M-$6M pre-money valuation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892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of Funds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Engineering &amp; AI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931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Deepen the intelligence layer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69748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697480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Growth &amp; Marketing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97480" y="3931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awareness, founding users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754880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Development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3931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partnerships, restaurant onboarding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1228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812280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12280" y="3931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prosecution, legal, admin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0080" y="4434840"/>
            <a:ext cx="7772400" cy="0"/>
          </a:xfrm>
          <a:prstGeom prst="line">
            <a:avLst/>
          </a:prstGeom>
          <a:noFill/>
          <a:ln w="12700">
            <a:solidFill>
              <a:srgbClr val="3A40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5262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us at the ground floor of dish intelligence. This is a once-in-a-generation category creation moment.  |  nik@tastyiq.com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Locale — Pitch Deck</dc:title>
  <dc:subject>PptxGenJS Presentation</dc:subject>
  <dc:creator>Locale Team</dc:creator>
  <cp:lastModifiedBy>Locale Team</cp:lastModifiedBy>
  <cp:revision>1</cp:revision>
  <dcterms:created xsi:type="dcterms:W3CDTF">2026-03-22T05:18:41Z</dcterms:created>
  <dcterms:modified xsi:type="dcterms:W3CDTF">2026-03-22T05:18:41Z</dcterms:modified>
</cp:coreProperties>
</file>