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Active Users (K)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Oct '25</c:v>
                  </c:pt>
                  <c:pt idx="1">
                    <c:v>Nov '25</c:v>
                  </c:pt>
                  <c:pt idx="2">
                    <c:v>Dec '25</c:v>
                  </c:pt>
                  <c:pt idx="3">
                    <c:v>Jan '26</c:v>
                  </c:pt>
                  <c:pt idx="4">
                    <c:v>Feb '26</c:v>
                  </c:pt>
                  <c:pt idx="5">
                    <c:v>Mar 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2.1</c:v>
                </c:pt>
                <c:pt idx="1">
                  <c:v>4.8</c:v>
                </c:pt>
                <c:pt idx="2">
                  <c:v>8.5</c:v>
                </c:pt>
                <c:pt idx="3">
                  <c:v>14.2</c:v>
                </c:pt>
                <c:pt idx="4">
                  <c:v>22.6</c:v>
                </c:pt>
                <c:pt idx="5">
                  <c:v>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3A407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92A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24295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FF6B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F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5.8</c:v>
                </c:pt>
                <c:pt idx="2">
                  <c:v>18.5</c:v>
                </c:pt>
                <c:pt idx="3">
                  <c:v>42</c:v>
                </c:pt>
                <c:pt idx="4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F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EC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0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286000"/>
            <a:ext cx="5486400" cy="54864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FF6B6B">
              <a:alpha val="7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56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2344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creating an entirely new data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0"/>
          </a:xfrm>
          <a:prstGeom prst="line">
            <a:avLst/>
          </a:prstGeom>
          <a:noFill/>
          <a:ln w="38100">
            <a:solidFill>
              <a:srgbClr val="FF6B6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3383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Intelligence: The Missing Layer of the Food Industry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20 years, the food industry has rated the wrong thing.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928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Restaurant Fallacy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508760" y="21305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rate restaurants. But people eat dishes. The entire data model of the food industry is built on the wrong unit of analysis.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816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Data Layer Exists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31821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Movies have Rotten Tomatoes. Music has Spotify. Hotels have star ratings per room type. Food has nothing at the dish level.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794760"/>
            <a:ext cx="50292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9592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867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$371B Industry, Data-Blind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1508760" y="42336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consumer industry in America has zero standardized data infrastructure for its core product: the dish.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17920" y="1691640"/>
            <a:ext cx="2468880" cy="297180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217920" y="2011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 yrs</a:t>
            </a:r>
            <a:endParaRPr lang="en-US" sz="5400" dirty="0"/>
          </a:p>
        </p:txBody>
      </p:sp>
      <p:sp>
        <p:nvSpPr>
          <p:cNvPr id="19" name="Text 14"/>
          <p:cNvSpPr/>
          <p:nvPr/>
        </p:nvSpPr>
        <p:spPr>
          <a:xfrm>
            <a:off x="6492240" y="30175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rating restaurants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should have been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dishes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92240" y="4114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paradigm is about to shift.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Tastyr IQ is creating dish intelligence -- an entirely new data category that will become infrastructure for the food industry.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02996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New Data Category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173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does not exist today. We are building the foundational data layer that the entire food ecosystem will depend on.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46320" y="192024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029968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Patent-Pending AI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62356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proprietary scoring algorithm is patent-pending. Category ownership through intellectual property, not just execution speed.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493008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Three-Sided Marketplace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173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discover. Restaurants optimize. Data partners license. Three value streams from one intelligence platform.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46320" y="3383280"/>
            <a:ext cx="594360" cy="59436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3493008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623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Verticals Deep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623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horizontal play. Deep vertical expertise across 9 cuisines, understanding what excellence means in each category.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291840" cy="3474720"/>
          </a:xfrm>
          <a:prstGeom prst="rect">
            <a:avLst/>
          </a:prstGeom>
          <a:solidFill>
            <a:srgbClr val="1A1F3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600" kern="0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TASTYR IQ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103120"/>
            <a:ext cx="2560320" cy="32004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the best dishes...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5176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Wagyu Beef Tartare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43000" y="2907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 ★ 98/100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54680" y="2743200"/>
            <a:ext cx="320040" cy="320040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3154680" y="27432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3101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Lamb Shank Tagine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Moroccan  ★ 95/100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154680" y="3383280"/>
            <a:ext cx="320040" cy="32004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7" name="Text 15"/>
          <p:cNvSpPr/>
          <p:nvPr/>
        </p:nvSpPr>
        <p:spPr>
          <a:xfrm>
            <a:off x="3154680" y="33832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931920"/>
            <a:ext cx="2560320" cy="502920"/>
          </a:xfrm>
          <a:prstGeom prst="rect">
            <a:avLst/>
          </a:prstGeom>
          <a:solidFill>
            <a:srgbClr val="2A3058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39502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Duck Confit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43000" y="41879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 ★ 93/100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154680" y="4023360"/>
            <a:ext cx="320040" cy="320040"/>
          </a:xfrm>
          <a:prstGeom prst="ellipse">
            <a:avLst/>
          </a:prstGeom>
          <a:solidFill>
            <a:srgbClr val="7C5CFC"/>
          </a:solidFill>
          <a:ln/>
        </p:spPr>
      </p:sp>
      <p:sp>
        <p:nvSpPr>
          <p:cNvPr id="22" name="Text 20"/>
          <p:cNvSpPr/>
          <p:nvPr/>
        </p:nvSpPr>
        <p:spPr>
          <a:xfrm>
            <a:off x="3154680" y="40233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</a:t>
            </a:r>
            <a:endParaRPr lang="en-US" sz="9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325880"/>
            <a:ext cx="274320" cy="27432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80060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New Data Category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4800600" y="16276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doesn't exist today. We're building the foundational data layer the food ecosystem will depend on.</a:t>
            </a:r>
            <a:endParaRPr lang="en-US" sz="110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94560"/>
            <a:ext cx="274320" cy="27432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480060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Patent-Pending AI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4800600" y="249631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ownership through intellectual property. Our scoring algorithm is patent-pending.</a:t>
            </a:r>
            <a:endParaRPr lang="en-US" sz="110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3063240"/>
            <a:ext cx="274320" cy="27432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800600" y="3017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Three-Sided Marketplace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00600" y="336499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discover. Restaurants optimize. Data partners license. Three value streams from one platform.</a:t>
            </a:r>
            <a:endParaRPr lang="en-US" sz="1100" dirty="0"/>
          </a:p>
        </p:txBody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931920"/>
            <a:ext cx="274320" cy="27432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4800600" y="38862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 Verticals Deep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800600" y="423367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vertical expertise across 9 cuisines, understanding what excellence means in each category.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2377440" cy="2377440"/>
          </a:xfrm>
          <a:prstGeom prst="ellipse">
            <a:avLst/>
          </a:prstGeom>
          <a:solidFill>
            <a:srgbClr val="1A1F3D">
              <a:alpha val="88000"/>
            </a:srgbClr>
          </a:solidFill>
          <a:ln w="25400">
            <a:solidFill>
              <a:srgbClr val="1A1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EC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$371B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industry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dish-level data today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1600200"/>
            <a:ext cx="1920240" cy="1920240"/>
          </a:xfrm>
          <a:prstGeom prst="ellipse">
            <a:avLst/>
          </a:prstGeom>
          <a:solidFill>
            <a:srgbClr val="FF6B6B">
              <a:alpha val="88000"/>
            </a:srgbClr>
          </a:solidFill>
          <a:ln w="25400">
            <a:solidFill>
              <a:srgbClr val="FF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19659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0" y="22860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$23B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5760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tech market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dish intelligence player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1463040" cy="1463040"/>
          </a:xfrm>
          <a:prstGeom prst="ellipse">
            <a:avLst/>
          </a:prstGeom>
          <a:solidFill>
            <a:srgbClr val="2EC4B6">
              <a:alpha val="88000"/>
            </a:srgbClr>
          </a:solidFill>
          <a:ln w="254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0" y="19659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35040" y="2286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$2.3B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35040" y="2834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category: dish intelligence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define the market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14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entering a market. We are creating one.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61848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5448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Consumer Platform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dish discovery at $4.99/mo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Category-defining consumer product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46320" y="12801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74920" y="15087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618488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14173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35%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5760720" y="15361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Restaurant Intelligence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74920" y="20574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$500/mo dish analytics SaaS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optimization &amp; benchmarking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008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44728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7472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200" dirty="0"/>
          </a:p>
        </p:txBody>
      </p:sp>
      <p:sp>
        <p:nvSpPr>
          <p:cNvPr id="20" name="Text 15"/>
          <p:cNvSpPr/>
          <p:nvPr/>
        </p:nvSpPr>
        <p:spPr>
          <a:xfrm>
            <a:off x="155448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Infrastructure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6868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 dish intelligence to the food ecosystem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CPG, hospitality, media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846320" y="3108960"/>
            <a:ext cx="3840480" cy="1554480"/>
          </a:xfrm>
          <a:prstGeom prst="rect">
            <a:avLst/>
          </a:prstGeom>
          <a:solidFill>
            <a:srgbClr val="24295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74920" y="3337560"/>
            <a:ext cx="502920" cy="502920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447288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680960" y="3246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10%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5760720" y="33649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 Services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074920" y="3886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 dishes, integrations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revenue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71600"/>
                <a:gridCol w="13716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Feature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Tastyr IQ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B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Yelp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Google Maps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OpenTable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Dish-Level Scores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Scoring Algorithm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Cuisine Verticals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Restaurant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 Discovery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Licensing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6B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0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competition because this category does not exist yet. We are building 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Go-to-Market Strategy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2560320" cy="7315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Q2-Q4 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Philadelphia is our laboratory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dish intelligence has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founding users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restaurant data partnerships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188720"/>
            <a:ext cx="2560320" cy="73152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Tri-state expansion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awareness campaign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data licensing partnerships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recognition and press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118872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188720"/>
            <a:ext cx="2560320" cy="73152"/>
          </a:xfrm>
          <a:prstGeom prst="rect">
            <a:avLst/>
          </a:prstGeom>
          <a:solidFill>
            <a:srgbClr val="7C5CFC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417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9224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2028-2029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National: the nation is our market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leadership cemented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 intelligence becomes industry standard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acquisition interest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Traction &amp; Milestones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creation in progress.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0" y="1188720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0" y="123444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2,490+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858000" y="1234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 in Intelligence Layer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1847088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0" y="189280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858000" y="1892808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Cuisine Verticals Deep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0" y="2505456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0" y="255117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Patent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858000" y="2551176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= Category Ownership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0" y="3163824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32095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93K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858000" y="32095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= Serious Engineering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0" y="3822192"/>
            <a:ext cx="3200400" cy="530352"/>
          </a:xfrm>
          <a:prstGeom prst="rect">
            <a:avLst/>
          </a:prstGeom>
          <a:solidFill>
            <a:srgbClr val="242955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0" y="386791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858000" y="386791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 + TestFlight Beta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Team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Nik Amin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Co-Founder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 Area engineer who chose to 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93K lines of code, patent-pending AI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2" name="Text 10"/>
          <p:cNvSpPr/>
          <p:nvPr/>
        </p:nvSpPr>
        <p:spPr>
          <a:xfrm>
            <a:off x="310896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Ali Mabsoute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CMO &amp; Co-Founder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UPenn grad who chose Philadelphia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Hyatt, Citi, AmEx -- 15yr market expertise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5780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89204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188720"/>
            <a:ext cx="192024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06640" y="1417320"/>
            <a:ext cx="914400" cy="914400"/>
          </a:xfrm>
          <a:prstGeom prst="ellipse">
            <a:avLst/>
          </a:prstGeom>
          <a:solidFill>
            <a:srgbClr val="1A1F3D"/>
          </a:solidFill>
          <a:ln/>
        </p:spPr>
      </p:sp>
      <p:sp>
        <p:nvSpPr>
          <p:cNvPr id="24" name="Text 22"/>
          <p:cNvSpPr/>
          <p:nvPr/>
        </p:nvSpPr>
        <p:spPr>
          <a:xfrm>
            <a:off x="7406640" y="1417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24688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/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40880" y="31546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UPenn-adjacent grad and a Bay Area engineer chose to build dish intelligence from Philadelphia. This is a founding story.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4008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Financial Projections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97280"/>
          <a:ext cx="50292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$120K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6072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ARR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576072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$1.2M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6072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ARR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576072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76072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$18M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76072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 ARR (Target)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7315200" y="128016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0" y="13533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70%+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7315200" y="228600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315200" y="23591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months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7315200" y="27614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7315200" y="3291840"/>
            <a:ext cx="13716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0" y="33649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6.5x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315200" y="37673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640080" y="42976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category leadership  |  First-mover economics in a new data category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114800" y="3474720"/>
            <a:ext cx="4572000" cy="4572000"/>
          </a:xfrm>
          <a:prstGeom prst="ellipse">
            <a:avLst/>
          </a:prstGeom>
          <a:solidFill>
            <a:srgbClr val="FF6B6B">
              <a:alpha val="8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$500K - $1.5M Seed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$3M-$6M pre-money 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92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of Funds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Engineering &amp; 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 the intelligence layer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974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974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 &amp; Marketing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awareness, founding users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7548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Development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partnerships, restaurant onboarding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1228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12280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1228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prosecution, legal, admin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434840"/>
            <a:ext cx="7772400" cy="0"/>
          </a:xfrm>
          <a:prstGeom prst="line">
            <a:avLst/>
          </a:prstGeom>
          <a:noFill/>
          <a:ln w="12700">
            <a:solidFill>
              <a:srgbClr val="3A4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5262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us at the ground floor of dish intelligence. This is a once-in-a-generation category creation moment.  |  nik@tastyiq.com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Locale — Pitch Deck</dc:title>
  <dc:subject>PptxGenJS Presentation</dc:subject>
  <dc:creator>Locale Team</dc:creator>
  <cp:lastModifiedBy>Locale Team</cp:lastModifiedBy>
  <cp:revision>1</cp:revision>
  <dcterms:created xsi:type="dcterms:W3CDTF">2026-03-22T05:18:41Z</dcterms:created>
  <dcterms:modified xsi:type="dcterms:W3CDTF">2026-03-22T05:18:41Z</dcterms:modified>
</cp:coreProperties>
</file>