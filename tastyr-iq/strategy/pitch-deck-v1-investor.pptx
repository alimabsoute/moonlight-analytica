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Active Users (K)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Oct '25</c:v>
                  </c:pt>
                  <c:pt idx="1">
                    <c:v>Nov '25</c:v>
                  </c:pt>
                  <c:pt idx="2">
                    <c:v>Dec '25</c:v>
                  </c:pt>
                  <c:pt idx="3">
                    <c:v>Jan '26</c:v>
                  </c:pt>
                  <c:pt idx="4">
                    <c:v>Feb '26</c:v>
                  </c:pt>
                  <c:pt idx="5">
                    <c:v>Mar '26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2.1</c:v>
                </c:pt>
                <c:pt idx="1">
                  <c:v>4.8</c:v>
                </c:pt>
                <c:pt idx="2">
                  <c:v>8.5</c:v>
                </c:pt>
                <c:pt idx="3">
                  <c:v>14.2</c:v>
                </c:pt>
                <c:pt idx="4">
                  <c:v>22.6</c:v>
                </c:pt>
                <c:pt idx="5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2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0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2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429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F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</c:v>
                </c:pt>
                <c:pt idx="1">
                  <c:v>5.8</c:v>
                </c:pt>
                <c:pt idx="2">
                  <c:v>18.5</c:v>
                </c:pt>
                <c:pt idx="3">
                  <c:v>42</c:v>
                </c:pt>
                <c:pt idx="4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F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0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0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286000"/>
            <a:ext cx="5486400" cy="5486400"/>
          </a:xfrm>
          <a:prstGeom prst="ellipse">
            <a:avLst/>
          </a:prstGeom>
          <a:solidFill>
            <a:srgbClr val="FF6B6B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FF6B6B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Tastyr IQ</a:t>
            </a:r>
            <a:endParaRPr lang="en-US" sz="5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2344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the dish. Not the restaurant.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3108960"/>
            <a:ext cx="2286000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Dish Intelligence Platform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|  March 2026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$371B industry with zero dish-level data.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029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9280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64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Restaurants Are Not Dishes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2130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4-star restaurant can serve 2-star dishes. Today's platforms rate the venue, not the food.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5029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4436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8163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Objective Dish Scores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508760" y="3182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scroll through 500-word reviews hoping to find one mention of what they want to order.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794760"/>
            <a:ext cx="5029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95928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867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Restaurants Fly Blind on Menus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508760" y="4233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have POS data but zero insight into which dishes actually drive loyalty and return visits.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217920" y="1691640"/>
            <a:ext cx="2468880" cy="2971800"/>
          </a:xfrm>
          <a:prstGeom prst="rect">
            <a:avLst/>
          </a:prstGeom>
          <a:solidFill>
            <a:srgbClr val="1A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217920" y="2011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$371B</a:t>
            </a:r>
            <a:endParaRPr lang="en-US" sz="5400" dirty="0"/>
          </a:p>
        </p:txBody>
      </p:sp>
      <p:sp>
        <p:nvSpPr>
          <p:cNvPr id="19" name="Text 14"/>
          <p:cNvSpPr/>
          <p:nvPr/>
        </p:nvSpPr>
        <p:spPr>
          <a:xfrm>
            <a:off x="6492240" y="3017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restaurant industry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dish-level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infrastructure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92240" y="4114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National Restaurant Association 2025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Tastyr IQ is the first AI platform that scores individual dishes 0-100 using patent-pending algorithms across 9 food verticals.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299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Patent-Pending Dish Scoring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AI algorithm analyzes flavor, presentation, value, and consistency to generate a 0-100 TastyrScore for every dish.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920240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0299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Live Food Verticals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2356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sushi to BBQ to vegan, our vertical-specific models understand what makes each cuisine category excellent.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383280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49300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Consumer + Restaurant Platform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41732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discover top-scored dishes. Restaurants get analytics dashboards showing dish-level performance.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46320" y="3383280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49300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2356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Licensing Infrastructure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62356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intelligence data licensed to delivery platforms, CPG brands, and food industry analysts.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291840" cy="3474720"/>
          </a:xfrm>
          <a:prstGeom prst="rect">
            <a:avLst/>
          </a:prstGeom>
          <a:solidFill>
            <a:srgbClr val="1A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TASTYR IQ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103120"/>
            <a:ext cx="2560320" cy="320040"/>
          </a:xfrm>
          <a:prstGeom prst="rect">
            <a:avLst/>
          </a:prstGeom>
          <a:solidFill>
            <a:srgbClr val="2A305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dishes near you...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05840" y="2651760"/>
            <a:ext cx="2560320" cy="502920"/>
          </a:xfrm>
          <a:prstGeom prst="rect">
            <a:avLst/>
          </a:prstGeom>
          <a:solidFill>
            <a:srgbClr val="2A3058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670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Spicy Tuna Crispy Rice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2907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 ★ 4.9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274320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4.9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05840" y="3291840"/>
            <a:ext cx="2560320" cy="502920"/>
          </a:xfrm>
          <a:prstGeom prst="rect">
            <a:avLst/>
          </a:prstGeom>
          <a:solidFill>
            <a:srgbClr val="2A3058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310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Sakura Garden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3547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 ★ 4.8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54680" y="3383280"/>
            <a:ext cx="320040" cy="3200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315468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05840" y="3931920"/>
            <a:ext cx="2560320" cy="502920"/>
          </a:xfrm>
          <a:prstGeom prst="rect">
            <a:avLst/>
          </a:prstGeom>
          <a:solidFill>
            <a:srgbClr val="2A3058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 Agave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" y="4187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Mexican  ★ 4.7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154680" y="4023360"/>
            <a:ext cx="320040" cy="320040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2" name="Text 20"/>
          <p:cNvSpPr/>
          <p:nvPr/>
        </p:nvSpPr>
        <p:spPr>
          <a:xfrm>
            <a:off x="315468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4.7</a:t>
            </a:r>
            <a:endParaRPr lang="en-US" sz="9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325880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80060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Trust Score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800600" y="16276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 gets an authenticity score powered by our proprietary ML model</a:t>
            </a:r>
            <a:endParaRPr lang="en-US" sz="11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19456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800600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 DNA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4800600" y="24963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preference profile — get recommendations that actually match your taste</a:t>
            </a:r>
            <a:endParaRPr lang="en-US" sz="11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06324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80060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Pulse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4800600" y="33649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trending spots, new openings, and neighborhood activity feed</a:t>
            </a:r>
            <a:endParaRPr lang="en-US" sz="11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931920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800600" y="3886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Dashboard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4800600" y="42336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analytics for businesses — foot traffic, sentiment analysis, competitor benchmarks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2377440" cy="2377440"/>
          </a:xfrm>
          <a:prstGeom prst="ellipse">
            <a:avLst/>
          </a:prstGeom>
          <a:solidFill>
            <a:srgbClr val="1A1F3D">
              <a:alpha val="88000"/>
            </a:srgbClr>
          </a:solidFill>
          <a:ln w="25400">
            <a:solidFill>
              <a:srgbClr val="1A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$371B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restaurant industry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0" y="1600200"/>
            <a:ext cx="1920240" cy="1920240"/>
          </a:xfrm>
          <a:prstGeom prst="ellipse">
            <a:avLst/>
          </a:prstGeom>
          <a:solidFill>
            <a:srgbClr val="FF6B6B">
              <a:alpha val="88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$23B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tech &amp; analytics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market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828800"/>
            <a:ext cx="1463040" cy="1463040"/>
          </a:xfrm>
          <a:prstGeom prst="ellipse">
            <a:avLst/>
          </a:prstGeom>
          <a:solidFill>
            <a:srgbClr val="2EC4B6">
              <a:alpha val="88000"/>
            </a:srgbClr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2286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$2.3B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35040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Dish-level intelligence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target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tech market growing at 12.5% CAGR through 2030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840480" cy="1554480"/>
          </a:xfrm>
          <a:prstGeom prst="rect">
            <a:avLst/>
          </a:prstGeom>
          <a:solidFill>
            <a:srgbClr val="2429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50876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61848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0" y="1417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54480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B2C Subscriptions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057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dish discovery, personalized recs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$4.99/mo per user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46320" y="1280160"/>
            <a:ext cx="3840480" cy="1554480"/>
          </a:xfrm>
          <a:prstGeom prst="rect">
            <a:avLst/>
          </a:prstGeom>
          <a:solidFill>
            <a:srgbClr val="2429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74920" y="150876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61848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1417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760720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B2B Restaurant SaaS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074920" y="2057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analytics dashboard, menu optimization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$500/mo per restaurant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3108960"/>
            <a:ext cx="3840480" cy="1554480"/>
          </a:xfrm>
          <a:prstGeom prst="rect">
            <a:avLst/>
          </a:prstGeom>
          <a:solidFill>
            <a:srgbClr val="2429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333756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44728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74720" y="3246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554480" y="3364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Licensing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68680" y="3886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intelligence for delivery platforms &amp; CPG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contracts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846320" y="3108960"/>
            <a:ext cx="3840480" cy="1554480"/>
          </a:xfrm>
          <a:prstGeom prst="rect">
            <a:avLst/>
          </a:prstGeom>
          <a:solidFill>
            <a:srgbClr val="2429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074920" y="333756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344728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80960" y="3246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5760720" y="3364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Promoted Dishes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074920" y="3886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promote top-scored dishes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model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Feature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Locale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Yelp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Google Maps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TripAdvisor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Review Verification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Recs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Business Analytics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Pay-to-Play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Trending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Trust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Tastyr IQ is the only platform that scores individual dishes with AI. No competitor offers dish-level intelligence.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 Strategy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256032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Q2-Q4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Philadelphia launch city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premium subscribers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restaurant dashboards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user cohort campaign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188720"/>
            <a:ext cx="2560320" cy="731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4688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Tri-state expansion (NYC, NJ)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premium users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restaurant dashboards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data licensing deals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188720"/>
            <a:ext cx="2560320" cy="73152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9224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2028-2029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4688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expansion to top 25 cities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premium users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restaurant dashboards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licensing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Milestones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validated in 8 months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0" y="1188720"/>
            <a:ext cx="3200400" cy="530352"/>
          </a:xfrm>
          <a:prstGeom prst="rect">
            <a:avLst/>
          </a:prstGeom>
          <a:solidFill>
            <a:srgbClr val="242955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12344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2,490+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0" y="1234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Dishes Indexed &amp; Scored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0" y="1847088"/>
            <a:ext cx="3200400" cy="530352"/>
          </a:xfrm>
          <a:prstGeom prst="rect">
            <a:avLst/>
          </a:prstGeom>
          <a:solidFill>
            <a:srgbClr val="242955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0" y="18928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858000" y="18928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Food Verticals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0" y="2505456"/>
            <a:ext cx="3200400" cy="530352"/>
          </a:xfrm>
          <a:prstGeom prst="rect">
            <a:avLst/>
          </a:prstGeom>
          <a:solidFill>
            <a:srgbClr val="242955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0" y="255117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93K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58000" y="25511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Production Code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0" y="3163824"/>
            <a:ext cx="3200400" cy="530352"/>
          </a:xfrm>
          <a:prstGeom prst="rect">
            <a:avLst/>
          </a:prstGeom>
          <a:solidFill>
            <a:srgbClr val="242955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0" y="32095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858000" y="32095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Pending (Scoring Algo)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0" y="3822192"/>
            <a:ext cx="3200400" cy="530352"/>
          </a:xfrm>
          <a:prstGeom prst="rect">
            <a:avLst/>
          </a:prstGeom>
          <a:solidFill>
            <a:srgbClr val="242955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0" y="386791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858000" y="38679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 Beta + App Store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417320"/>
            <a:ext cx="914400" cy="914400"/>
          </a:xfrm>
          <a:prstGeom prst="ellipse">
            <a:avLst/>
          </a:prstGeom>
          <a:solidFill>
            <a:srgbClr val="1A1F3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Nik Amin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Area, Product &amp; Engineering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 platform, 93K lines of code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417320"/>
            <a:ext cx="914400" cy="914400"/>
          </a:xfrm>
          <a:prstGeom prst="ellipse">
            <a:avLst/>
          </a:prstGeom>
          <a:solidFill>
            <a:srgbClr val="1A1F3D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 Mabsoute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 &amp; Co-Founder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UPenn Grad, 15 Years in Philadelphia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Hyatt, Citi, American Express alumni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57800" y="1417320"/>
            <a:ext cx="914400" cy="914400"/>
          </a:xfrm>
          <a:prstGeom prst="ellipse">
            <a:avLst/>
          </a:prstGeom>
          <a:solidFill>
            <a:srgbClr val="1A1F3D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9204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06640" y="1417320"/>
            <a:ext cx="914400" cy="914400"/>
          </a:xfrm>
          <a:prstGeom prst="ellipse">
            <a:avLst/>
          </a:prstGeom>
          <a:solidFill>
            <a:srgbClr val="1A1F3D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4088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domain expertise in food tech, restaurant operations, and consumer product growth.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Projections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28016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60720" y="13533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$120K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6072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ARR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760720" y="228600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2359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$1.2M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60720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ARR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760720" y="329184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60720" y="33649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$18M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60720" y="3767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 ARR (Target)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315200" y="128016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15200" y="13533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70%+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1520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315200" y="228600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315200" y="2359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months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15200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 (B2C)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315200" y="329184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315200" y="33649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6.5x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15200" y="3767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 Ratio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profitability in Q4 2028  |  Conservative projections, multiple revenue streams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114800" y="3474720"/>
            <a:ext cx="4572000" cy="4572000"/>
          </a:xfrm>
          <a:prstGeom prst="ellipse">
            <a:avLst/>
          </a:prstGeom>
          <a:solidFill>
            <a:srgbClr val="FF6B6B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$500K - $1.5M Seed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$3M-$6M pre-money valuation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2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Funds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&amp; 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models, infrastructure, vertical expansion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974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974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 &amp; Marketing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acquisition, influencer campaigns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Development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partnerships, data licensing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122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122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22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IP protection, admin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7772400" cy="0"/>
          </a:xfrm>
          <a:prstGeom prst="line">
            <a:avLst/>
          </a:prstGeom>
          <a:noFill/>
          <a:ln w="12700">
            <a:solidFill>
              <a:srgbClr val="3A4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26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nik@tastyiq.com  |  tastyiq.com  |  The dish-level data layer the food industry has been missing.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Locale — Pitch Deck</dc:title>
  <dc:subject>PptxGenJS Presentation</dc:subject>
  <dc:creator>Locale Team</dc:creator>
  <cp:lastModifiedBy>Locale Team</cp:lastModifiedBy>
  <cp:revision>1</cp:revision>
  <dcterms:created xsi:type="dcterms:W3CDTF">2026-03-22T05:18:41Z</dcterms:created>
  <dcterms:modified xsi:type="dcterms:W3CDTF">2026-03-22T05:18:41Z</dcterms:modified>
</cp:coreProperties>
</file>