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0" y="2011680"/>
            <a:ext cx="2103120" cy="381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169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5200" b="1">
                <a:solidFill>
                  <a:srgbClr val="1F2937"/>
                </a:solidFill>
                <a:latin typeface="Calibri"/>
              </a:rPr>
              <a:t>Tastyr IQ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200400"/>
            <a:ext cx="12191695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200" b="0">
                <a:solidFill>
                  <a:srgbClr val="9CA3AF"/>
                </a:solidFill>
                <a:latin typeface="Calibri"/>
              </a:rPr>
              <a:t>Rate the dish. Not the restaurant.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023360"/>
            <a:ext cx="1219169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>
                <a:solidFill>
                  <a:srgbClr val="9CA3AF"/>
                </a:solidFill>
                <a:latin typeface="Calibri"/>
              </a:rPr>
              <a:t>AI-Powered Dish Intelligence  |  Seed Round  |  March 2026  |  Confidential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4754880"/>
            <a:ext cx="2103120" cy="381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Calibri"/>
              </a:rPr>
              <a:t>1/21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>
                <a:solidFill>
                  <a:srgbClr val="1F2937"/>
                </a:solidFill>
                <a:latin typeface="Calibri"/>
              </a:rPr>
              <a:t>A $371B industry built on the wrong data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2286000" cy="381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828800"/>
            <a:ext cx="3108960" cy="27432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4800" b="1">
                <a:solidFill>
                  <a:srgbClr val="16A34A"/>
                </a:solidFill>
                <a:latin typeface="Calibri"/>
              </a:rPr>
              <a:t>$371B</a:t>
            </a:r>
          </a:p>
          <a:p>
            <a:pPr algn="ctr"/>
            <a:r>
              <a:rPr sz="1400" b="0">
                <a:solidFill>
                  <a:srgbClr val="9CA3AF"/>
                </a:solidFill>
                <a:latin typeface="Calibri"/>
              </a:rPr>
              <a:t>US restaurant industry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09160" y="1828800"/>
            <a:ext cx="3108960" cy="27432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4800" b="1">
                <a:solidFill>
                  <a:srgbClr val="16A34A"/>
                </a:solidFill>
                <a:latin typeface="Calibri"/>
              </a:rPr>
              <a:t>0</a:t>
            </a:r>
          </a:p>
          <a:p>
            <a:pPr algn="ctr"/>
            <a:r>
              <a:rPr sz="1400" b="0">
                <a:solidFill>
                  <a:srgbClr val="9CA3AF"/>
                </a:solidFill>
                <a:latin typeface="Calibri"/>
              </a:rPr>
              <a:t>Platforms that score
individual dishes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1828800"/>
            <a:ext cx="3108960" cy="27432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4800" b="1">
                <a:solidFill>
                  <a:srgbClr val="16A34A"/>
                </a:solidFill>
                <a:latin typeface="Calibri"/>
              </a:rPr>
              <a:t>78%</a:t>
            </a:r>
          </a:p>
          <a:p>
            <a:pPr algn="ctr"/>
            <a:r>
              <a:rPr sz="1400" b="0">
                <a:solidFill>
                  <a:srgbClr val="9CA3AF"/>
                </a:solidFill>
                <a:latin typeface="Calibri"/>
              </a:rPr>
              <a:t>Consumers who check
reviews before dining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>
                <a:solidFill>
                  <a:srgbClr val="9CA3AF"/>
                </a:solidFill>
                <a:latin typeface="Calibri"/>
              </a:rPr>
              <a:t>Source: National Restaurant Association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Calibri"/>
              </a:rPr>
              <a:t>2/21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418320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4800"/>
              </a:lnSpc>
            </a:pPr>
            <a:r>
              <a:rPr sz="3600" b="1">
                <a:solidFill>
                  <a:srgbClr val="1F2937"/>
                </a:solidFill>
                <a:latin typeface="Calibri"/>
              </a:rPr>
              <a:t>What if you could score every dish
in every restaurant — with AI?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4183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000" b="1">
                <a:solidFill>
                  <a:srgbClr val="16A34A"/>
                </a:solidFill>
                <a:latin typeface="Calibri"/>
              </a:rPr>
              <a:t>That's what we're building.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0" y="4572000"/>
            <a:ext cx="1188720" cy="381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Calibri"/>
              </a:rPr>
              <a:t>3/21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>
                <a:solidFill>
                  <a:srgbClr val="1F2937"/>
                </a:solidFill>
                <a:latin typeface="Calibri"/>
              </a:rPr>
              <a:t>Tastyr IQ scores individual dishes 0–100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2286000" cy="381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" y="1883664"/>
            <a:ext cx="109728" cy="10972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1828800"/>
            <a:ext cx="4343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1F2937"/>
                </a:solidFill>
                <a:latin typeface="Calibri"/>
              </a:rPr>
              <a:t>Patent-pending AI scoring algorithm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2478024"/>
            <a:ext cx="109728" cy="10972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4343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1F2937"/>
                </a:solidFill>
                <a:latin typeface="Calibri"/>
              </a:rPr>
              <a:t>9 live food verticals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3072384"/>
            <a:ext cx="109728" cy="10972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3017520"/>
            <a:ext cx="4343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1F2937"/>
                </a:solidFill>
                <a:latin typeface="Calibri"/>
              </a:rPr>
              <a:t>Consumer + restaurant platform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666744"/>
            <a:ext cx="109728" cy="10972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611880"/>
            <a:ext cx="4343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1F2937"/>
                </a:solidFill>
                <a:latin typeface="Calibri"/>
              </a:rPr>
              <a:t>Data licensing infrastructure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1645920"/>
            <a:ext cx="4572000" cy="292608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</a:pPr>
            <a:r>
              <a:rPr sz="2800" b="1">
                <a:solidFill>
                  <a:srgbClr val="16A34A"/>
                </a:solidFill>
                <a:latin typeface="Calibri"/>
              </a:rPr>
              <a:t>TastyrScore</a:t>
            </a:r>
          </a:p>
          <a:p>
            <a:pPr algn="ctr">
              <a:spcAft>
                <a:spcPts val="1200"/>
              </a:spcAft>
            </a:pPr>
            <a:r>
              <a:rPr sz="4000" b="1">
                <a:solidFill>
                  <a:srgbClr val="1F2937"/>
                </a:solidFill>
                <a:latin typeface="Calibri"/>
              </a:rPr>
              <a:t>87 / 100</a:t>
            </a:r>
          </a:p>
          <a:p>
            <a:pPr algn="ctr"/>
            <a:r>
              <a:rPr sz="1300">
                <a:solidFill>
                  <a:srgbClr val="9CA3AF"/>
                </a:solidFill>
                <a:latin typeface="Calibri"/>
              </a:rPr>
              <a:t>AI-scored dish cards with
TastyrScore badges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Calibri"/>
              </a:rPr>
              <a:t>4/21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>
                <a:solidFill>
                  <a:srgbClr val="1F2937"/>
                </a:solidFill>
                <a:latin typeface="Calibri"/>
              </a:rPr>
              <a:t>From reviews to scores in seconds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2286000" cy="381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760220" y="2194560"/>
            <a:ext cx="502920" cy="50292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154680" y="2304288"/>
            <a:ext cx="411480" cy="274320"/>
          </a:xfrm>
          <a:prstGeom prst="rightArrow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800" b="1">
                <a:solidFill>
                  <a:srgbClr val="1F2937"/>
                </a:solidFill>
                <a:latin typeface="Calibri"/>
              </a:rPr>
              <a:t>Aggregate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474720"/>
            <a:ext cx="21945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0">
                <a:solidFill>
                  <a:srgbClr val="9CA3AF"/>
                </a:solidFill>
                <a:latin typeface="Calibri"/>
              </a:rPr>
              <a:t>Pull reviews, social
mentions, critic ratings</a:t>
            </a:r>
          </a:p>
        </p:txBody>
      </p:sp>
      <p:sp>
        <p:nvSpPr>
          <p:cNvPr id="8" name="Oval 7"/>
          <p:cNvSpPr/>
          <p:nvPr/>
        </p:nvSpPr>
        <p:spPr>
          <a:xfrm>
            <a:off x="4457700" y="2194560"/>
            <a:ext cx="502920" cy="50292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52160" y="2304288"/>
            <a:ext cx="411480" cy="274320"/>
          </a:xfrm>
          <a:prstGeom prst="rightArrow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2926080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800" b="1">
                <a:solidFill>
                  <a:srgbClr val="1F2937"/>
                </a:solidFill>
                <a:latin typeface="Calibri"/>
              </a:rPr>
              <a:t>Analyze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3474720"/>
            <a:ext cx="21945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0">
                <a:solidFill>
                  <a:srgbClr val="9CA3AF"/>
                </a:solidFill>
                <a:latin typeface="Calibri"/>
              </a:rPr>
              <a:t>AI parses flavor, value,
presentation, consistency</a:t>
            </a:r>
          </a:p>
        </p:txBody>
      </p:sp>
      <p:sp>
        <p:nvSpPr>
          <p:cNvPr id="12" name="Oval 11"/>
          <p:cNvSpPr/>
          <p:nvPr/>
        </p:nvSpPr>
        <p:spPr>
          <a:xfrm>
            <a:off x="7155180" y="2194560"/>
            <a:ext cx="502920" cy="50292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549640" y="2304288"/>
            <a:ext cx="411480" cy="274320"/>
          </a:xfrm>
          <a:prstGeom prst="rightArrow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2926080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800" b="1">
                <a:solidFill>
                  <a:srgbClr val="1F2937"/>
                </a:solidFill>
                <a:latin typeface="Calibri"/>
              </a:rPr>
              <a:t>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474720"/>
            <a:ext cx="21945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0">
                <a:solidFill>
                  <a:srgbClr val="9CA3AF"/>
                </a:solidFill>
                <a:latin typeface="Calibri"/>
              </a:rPr>
              <a:t>Generate 0–100
TastyrScore per dish</a:t>
            </a:r>
          </a:p>
        </p:txBody>
      </p:sp>
      <p:sp>
        <p:nvSpPr>
          <p:cNvPr id="16" name="Oval 15"/>
          <p:cNvSpPr/>
          <p:nvPr/>
        </p:nvSpPr>
        <p:spPr>
          <a:xfrm>
            <a:off x="9852660" y="2194560"/>
            <a:ext cx="502920" cy="50292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40" y="2926080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800" b="1">
                <a:solidFill>
                  <a:srgbClr val="1F2937"/>
                </a:solidFill>
                <a:latin typeface="Calibri"/>
              </a:rPr>
              <a:t>Deliver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840" y="3474720"/>
            <a:ext cx="21945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0">
                <a:solidFill>
                  <a:srgbClr val="9CA3AF"/>
                </a:solidFill>
                <a:latin typeface="Calibri"/>
              </a:rPr>
              <a:t>Consumer app +
restaurant dashboard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Calibri"/>
              </a:rPr>
              <a:t>5/21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>
                <a:solidFill>
                  <a:srgbClr val="1F2937"/>
                </a:solidFill>
                <a:latin typeface="Calibri"/>
              </a:rPr>
              <a:t>The market is massive and untapped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2286000" cy="381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828800"/>
            <a:ext cx="3108960" cy="27432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6A34A"/>
                </a:solidFill>
                <a:latin typeface="Calibri"/>
              </a:rPr>
              <a:t>TAM</a:t>
            </a:r>
          </a:p>
          <a:p>
            <a:pPr algn="ctr">
              <a:spcAft>
                <a:spcPts val="600"/>
              </a:spcAft>
            </a:pPr>
            <a:r>
              <a:rPr sz="4400" b="1">
                <a:solidFill>
                  <a:srgbClr val="1F2937"/>
                </a:solidFill>
                <a:latin typeface="Calibri"/>
              </a:rPr>
              <a:t>$371B</a:t>
            </a:r>
          </a:p>
          <a:p>
            <a:pPr algn="ctr"/>
            <a:r>
              <a:rPr sz="1200">
                <a:solidFill>
                  <a:srgbClr val="9CA3AF"/>
                </a:solidFill>
                <a:latin typeface="Calibri"/>
              </a:rPr>
              <a:t>US restaurant industry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09160" y="1828800"/>
            <a:ext cx="3108960" cy="27432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6A34A"/>
                </a:solidFill>
                <a:latin typeface="Calibri"/>
              </a:rPr>
              <a:t>SAM</a:t>
            </a:r>
          </a:p>
          <a:p>
            <a:pPr algn="ctr">
              <a:spcAft>
                <a:spcPts val="600"/>
              </a:spcAft>
            </a:pPr>
            <a:r>
              <a:rPr sz="4400" b="1">
                <a:solidFill>
                  <a:srgbClr val="1F2937"/>
                </a:solidFill>
                <a:latin typeface="Calibri"/>
              </a:rPr>
              <a:t>$23B</a:t>
            </a:r>
          </a:p>
          <a:p>
            <a:pPr algn="ctr"/>
            <a:r>
              <a:rPr sz="1200">
                <a:solidFill>
                  <a:srgbClr val="9CA3AF"/>
                </a:solidFill>
                <a:latin typeface="Calibri"/>
              </a:rPr>
              <a:t>Restaurant tech &amp; analytics SaaS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1828800"/>
            <a:ext cx="3108960" cy="27432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6A34A"/>
                </a:solidFill>
                <a:latin typeface="Calibri"/>
              </a:rPr>
              <a:t>SOM</a:t>
            </a:r>
          </a:p>
          <a:p>
            <a:pPr algn="ctr">
              <a:spcAft>
                <a:spcPts val="600"/>
              </a:spcAft>
            </a:pPr>
            <a:r>
              <a:rPr sz="4400" b="1">
                <a:solidFill>
                  <a:srgbClr val="1F2937"/>
                </a:solidFill>
                <a:latin typeface="Calibri"/>
              </a:rPr>
              <a:t>$2.3B</a:t>
            </a:r>
          </a:p>
          <a:p>
            <a:pPr algn="ctr"/>
            <a:r>
              <a:rPr sz="1200">
                <a:solidFill>
                  <a:srgbClr val="9CA3AF"/>
                </a:solidFill>
                <a:latin typeface="Calibri"/>
              </a:rPr>
              <a:t>Dish-level intelligence, Year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>
                <a:solidFill>
                  <a:srgbClr val="9CA3AF"/>
                </a:solidFill>
                <a:latin typeface="Calibri"/>
              </a:rPr>
              <a:t>Restaurant tech market growing at 12.5% CAGR through 2030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Calibri"/>
              </a:rPr>
              <a:t>6/21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>
                <a:solidFill>
                  <a:srgbClr val="1F2937"/>
                </a:solidFill>
                <a:latin typeface="Calibri"/>
              </a:rPr>
              <a:t>Nobody does what we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2286000" cy="381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554480"/>
          <a:ext cx="106984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828800"/>
                <a:gridCol w="1828800"/>
                <a:gridCol w="2286000"/>
                <a:gridCol w="2011680"/>
              </a:tblGrid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1F2937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Tastyr IQ</a:t>
                      </a:r>
                    </a:p>
                  </a:txBody>
                  <a:tcPr>
                    <a:solidFill>
                      <a:srgbClr val="1F2937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Yelp</a:t>
                      </a:r>
                    </a:p>
                  </a:txBody>
                  <a:tcPr>
                    <a:solidFill>
                      <a:srgbClr val="1F2937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Google Maps</a:t>
                      </a:r>
                    </a:p>
                  </a:txBody>
                  <a:tcPr>
                    <a:solidFill>
                      <a:srgbClr val="1F2937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OpenTable</a:t>
                      </a:r>
                    </a:p>
                  </a:txBody>
                  <a:tcPr>
                    <a:solidFill>
                      <a:srgbClr val="1F2937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Dish-level scores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6A3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EF4444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EF4444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EF4444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AI scoring algorithm</a:t>
                      </a:r>
                    </a:p>
                  </a:txBody>
                  <a:tcPr>
                    <a:solidFill>
                      <a:srgbClr val="F7F9FC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6A3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7F9FC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EF4444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F7F9FC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EF4444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F7F9FC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EF4444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F7F9FC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9 cuisine verticals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6A3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EF4444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EF4444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EF4444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Restaurant analytics</a:t>
                      </a:r>
                    </a:p>
                  </a:txBody>
                  <a:tcPr>
                    <a:solidFill>
                      <a:srgbClr val="F7F9FC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6A3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7F9FC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Paid</a:t>
                      </a:r>
                    </a:p>
                  </a:txBody>
                  <a:tcPr>
                    <a:solidFill>
                      <a:srgbClr val="F7F9FC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Limited</a:t>
                      </a:r>
                    </a:p>
                  </a:txBody>
                  <a:tcPr>
                    <a:solidFill>
                      <a:srgbClr val="F7F9FC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EF4444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F7F9FC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Consumer discovery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6A3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6A3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6A3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Menu optimization</a:t>
                      </a:r>
                    </a:p>
                  </a:txBody>
                  <a:tcPr>
                    <a:solidFill>
                      <a:srgbClr val="F7F9FC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6A3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7F9FC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EF4444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F7F9FC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EF4444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F7F9FC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EF4444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F7F9FC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Data licensing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6A34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EF4444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EF4444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EF4444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Calibri"/>
              </a:rPr>
              <a:t>7/21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>
                <a:solidFill>
                  <a:srgbClr val="1F2937"/>
                </a:solidFill>
                <a:latin typeface="Calibri"/>
              </a:rPr>
              <a:t>Four revenue streams, one data platform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2286000" cy="381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645920"/>
            <a:ext cx="4754880" cy="164592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600" b="1">
                <a:solidFill>
                  <a:srgbClr val="16A34A"/>
                </a:solidFill>
                <a:latin typeface="Calibri"/>
              </a:rPr>
              <a:t>40%</a:t>
            </a:r>
          </a:p>
          <a:p>
            <a:pPr algn="ctr">
              <a:spcAft>
                <a:spcPts val="20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B2C Subscriptions</a:t>
            </a:r>
          </a:p>
          <a:p>
            <a:pPr algn="ctr"/>
            <a:r>
              <a:rPr sz="1300">
                <a:solidFill>
                  <a:srgbClr val="9CA3AF"/>
                </a:solidFill>
                <a:latin typeface="Calibri"/>
              </a:rPr>
              <a:t>$4.99/mo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645920"/>
            <a:ext cx="4754880" cy="164592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600" b="1">
                <a:solidFill>
                  <a:srgbClr val="16A34A"/>
                </a:solidFill>
                <a:latin typeface="Calibri"/>
              </a:rPr>
              <a:t>35%</a:t>
            </a:r>
          </a:p>
          <a:p>
            <a:pPr algn="ctr">
              <a:spcAft>
                <a:spcPts val="20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B2B Restaurant SaaS</a:t>
            </a:r>
          </a:p>
          <a:p>
            <a:pPr algn="ctr"/>
            <a:r>
              <a:rPr sz="1300">
                <a:solidFill>
                  <a:srgbClr val="9CA3AF"/>
                </a:solidFill>
                <a:latin typeface="Calibri"/>
              </a:rPr>
              <a:t>$500/mo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749040"/>
            <a:ext cx="4754880" cy="164592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600" b="1">
                <a:solidFill>
                  <a:srgbClr val="16A34A"/>
                </a:solidFill>
                <a:latin typeface="Calibri"/>
              </a:rPr>
              <a:t>15%</a:t>
            </a:r>
          </a:p>
          <a:p>
            <a:pPr algn="ctr">
              <a:spcAft>
                <a:spcPts val="20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Data Licensing</a:t>
            </a:r>
          </a:p>
          <a:p>
            <a:pPr algn="ctr"/>
            <a:r>
              <a:rPr sz="1300">
                <a:solidFill>
                  <a:srgbClr val="9CA3AF"/>
                </a:solidFill>
                <a:latin typeface="Calibri"/>
              </a:rPr>
              <a:t>Enterprise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3749040"/>
            <a:ext cx="4754880" cy="164592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600" b="1">
                <a:solidFill>
                  <a:srgbClr val="16A34A"/>
                </a:solidFill>
                <a:latin typeface="Calibri"/>
              </a:rPr>
              <a:t>10%</a:t>
            </a:r>
          </a:p>
          <a:p>
            <a:pPr algn="ctr">
              <a:spcAft>
                <a:spcPts val="20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Promoted Dishes</a:t>
            </a:r>
          </a:p>
          <a:p>
            <a:pPr algn="ctr"/>
            <a:r>
              <a:rPr sz="1300">
                <a:solidFill>
                  <a:srgbClr val="9CA3AF"/>
                </a:solidFill>
                <a:latin typeface="Calibri"/>
              </a:rPr>
              <a:t>CPC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Calibri"/>
              </a:rPr>
              <a:t>8/21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>
                <a:solidFill>
                  <a:srgbClr val="1F2937"/>
                </a:solidFill>
                <a:latin typeface="Calibri"/>
              </a:rPr>
              <a:t>Built and validated in 8 months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2286000" cy="381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83767" y="2011680"/>
            <a:ext cx="1828800" cy="256032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800" b="1">
                <a:solidFill>
                  <a:srgbClr val="16A34A"/>
                </a:solidFill>
                <a:latin typeface="Calibri"/>
              </a:rPr>
              <a:t>2,490+</a:t>
            </a:r>
          </a:p>
          <a:p>
            <a:pPr algn="ctr"/>
            <a:r>
              <a:rPr sz="1200" b="0">
                <a:solidFill>
                  <a:srgbClr val="9CA3AF"/>
                </a:solidFill>
                <a:latin typeface="Calibri"/>
              </a:rPr>
              <a:t>Dishes Indexed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32607" y="2011680"/>
            <a:ext cx="1828800" cy="256032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800" b="1">
                <a:solidFill>
                  <a:srgbClr val="16A34A"/>
                </a:solidFill>
                <a:latin typeface="Calibri"/>
              </a:rPr>
              <a:t>9</a:t>
            </a:r>
          </a:p>
          <a:p>
            <a:pPr algn="ctr"/>
            <a:r>
              <a:rPr sz="1200" b="0">
                <a:solidFill>
                  <a:srgbClr val="9CA3AF"/>
                </a:solidFill>
                <a:latin typeface="Calibri"/>
              </a:rPr>
              <a:t>Live Verticals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81447" y="2011680"/>
            <a:ext cx="1828800" cy="256032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800" b="1">
                <a:solidFill>
                  <a:srgbClr val="16A34A"/>
                </a:solidFill>
                <a:latin typeface="Calibri"/>
              </a:rPr>
              <a:t>93K</a:t>
            </a:r>
          </a:p>
          <a:p>
            <a:pPr algn="ctr"/>
            <a:r>
              <a:rPr sz="1200" b="0">
                <a:solidFill>
                  <a:srgbClr val="9CA3AF"/>
                </a:solidFill>
                <a:latin typeface="Calibri"/>
              </a:rPr>
              <a:t>Lines of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30287" y="2011680"/>
            <a:ext cx="1828800" cy="256032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800" b="1">
                <a:solidFill>
                  <a:srgbClr val="16A34A"/>
                </a:solidFill>
                <a:latin typeface="Calibri"/>
              </a:rPr>
              <a:t>1</a:t>
            </a:r>
          </a:p>
          <a:p>
            <a:pPr algn="ctr"/>
            <a:r>
              <a:rPr sz="1200" b="0">
                <a:solidFill>
                  <a:srgbClr val="9CA3AF"/>
                </a:solidFill>
                <a:latin typeface="Calibri"/>
              </a:rPr>
              <a:t>Patent Pending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79127" y="2011680"/>
            <a:ext cx="1828800" cy="256032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800" b="1">
                <a:solidFill>
                  <a:srgbClr val="F59E0B"/>
                </a:solidFill>
                <a:latin typeface="Calibri"/>
              </a:rPr>
              <a:t>Live</a:t>
            </a:r>
          </a:p>
          <a:p>
            <a:pPr algn="ctr"/>
            <a:r>
              <a:rPr sz="1200" b="0">
                <a:solidFill>
                  <a:srgbClr val="9CA3AF"/>
                </a:solidFill>
                <a:latin typeface="Calibri"/>
              </a:rPr>
              <a:t>App Store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Calibri"/>
              </a:rPr>
              <a:t>9/21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>
                <a:solidFill>
                  <a:srgbClr val="1F2937"/>
                </a:solidFill>
                <a:latin typeface="Calibri"/>
              </a:rPr>
              <a:t>Philadelphia first, then the nation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2286000" cy="381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737360"/>
            <a:ext cx="3108960" cy="292608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1F2937"/>
                </a:solidFill>
                <a:latin typeface="Calibri"/>
              </a:rPr>
              <a:t>Phase 1: Launch</a:t>
            </a:r>
          </a:p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16A34A"/>
                </a:solidFill>
                <a:latin typeface="Calibri"/>
              </a:rPr>
              <a:t>Q2–Q4 2026</a:t>
            </a:r>
          </a:p>
          <a:p>
            <a:pPr algn="ctr"/>
            <a:r>
              <a:rPr sz="1200">
                <a:solidFill>
                  <a:srgbClr val="9CA3AF"/>
                </a:solidFill>
                <a:latin typeface="Calibri"/>
              </a:rPr>
              <a:t>Philly launch, 1K users,
10 restaurant partners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251960" y="3063240"/>
            <a:ext cx="411480" cy="274320"/>
          </a:xfrm>
          <a:prstGeom prst="rightArrow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09160" y="1737360"/>
            <a:ext cx="3108960" cy="292608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1F2937"/>
                </a:solidFill>
                <a:latin typeface="Calibri"/>
              </a:rPr>
              <a:t>Phase 2: Expand</a:t>
            </a:r>
          </a:p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16A34A"/>
                </a:solidFill>
                <a:latin typeface="Calibri"/>
              </a:rPr>
              <a:t>2027</a:t>
            </a:r>
          </a:p>
          <a:p>
            <a:pPr algn="ctr"/>
            <a:r>
              <a:rPr sz="1200">
                <a:solidFill>
                  <a:srgbClr val="9CA3AF"/>
                </a:solidFill>
                <a:latin typeface="Calibri"/>
              </a:rPr>
              <a:t>Tri-state expansion,
8K users, data licensing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863840" y="3063240"/>
            <a:ext cx="411480" cy="274320"/>
          </a:xfrm>
          <a:prstGeom prst="rightArrow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321040" y="1737360"/>
            <a:ext cx="3108960" cy="292608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1F2937"/>
                </a:solidFill>
                <a:latin typeface="Calibri"/>
              </a:rPr>
              <a:t>Phase 3: Scale</a:t>
            </a:r>
          </a:p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16A34A"/>
                </a:solidFill>
                <a:latin typeface="Calibri"/>
              </a:rPr>
              <a:t>2028–29</a:t>
            </a:r>
          </a:p>
          <a:p>
            <a:pPr algn="ctr"/>
            <a:r>
              <a:rPr sz="1200">
                <a:solidFill>
                  <a:srgbClr val="9CA3AF"/>
                </a:solidFill>
                <a:latin typeface="Calibri"/>
              </a:rPr>
              <a:t>National rollout,
100K users, enterprise deals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Calibri"/>
              </a:rPr>
              <a:t>10/21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011680"/>
            <a:ext cx="9418320" cy="12801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4600"/>
              </a:lnSpc>
            </a:pPr>
            <a:r>
              <a:rPr sz="3400" b="1">
                <a:solidFill>
                  <a:srgbClr val="1F2937"/>
                </a:solidFill>
                <a:latin typeface="Calibri"/>
              </a:rPr>
              <a:t>We don't cold-call investors.
We create organic market pull.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4183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800" b="1">
                <a:solidFill>
                  <a:srgbClr val="16A34A"/>
                </a:solidFill>
                <a:latin typeface="Calibri"/>
              </a:rPr>
              <a:t>8 interconnected influence chains that convert at 40%, not 2%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0" y="4754880"/>
            <a:ext cx="1188720" cy="381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Calibri"/>
              </a:rPr>
              <a:t>11/21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>
                <a:solidFill>
                  <a:srgbClr val="1F2937"/>
                </a:solidFill>
                <a:latin typeface="Calibri"/>
              </a:rPr>
              <a:t>Chain A: The Restaurateur Gateway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2286000" cy="381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97280" y="1737360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Down Arrow 4"/>
          <p:cNvSpPr/>
          <p:nvPr/>
        </p:nvSpPr>
        <p:spPr>
          <a:xfrm>
            <a:off x="1207008" y="2185416"/>
            <a:ext cx="201168" cy="256032"/>
          </a:xfrm>
          <a:prstGeom prst="downArrow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37360" y="1773936"/>
            <a:ext cx="8686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Food blogger posts dish scores → organic reach to restaurant community</a:t>
            </a:r>
          </a:p>
        </p:txBody>
      </p:sp>
      <p:sp>
        <p:nvSpPr>
          <p:cNvPr id="7" name="Oval 6"/>
          <p:cNvSpPr/>
          <p:nvPr/>
        </p:nvSpPr>
        <p:spPr>
          <a:xfrm>
            <a:off x="1097280" y="2514600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Down Arrow 7"/>
          <p:cNvSpPr/>
          <p:nvPr/>
        </p:nvSpPr>
        <p:spPr>
          <a:xfrm>
            <a:off x="1207008" y="2962656"/>
            <a:ext cx="201168" cy="256032"/>
          </a:xfrm>
          <a:prstGeom prst="downArrow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2551176"/>
            <a:ext cx="8686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Restaurant owner sees coverage, gets curious about their own scores</a:t>
            </a:r>
          </a:p>
        </p:txBody>
      </p:sp>
      <p:sp>
        <p:nvSpPr>
          <p:cNvPr id="10" name="Oval 9"/>
          <p:cNvSpPr/>
          <p:nvPr/>
        </p:nvSpPr>
        <p:spPr>
          <a:xfrm>
            <a:off x="1097280" y="3291840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1207008" y="3739896"/>
            <a:ext cx="201168" cy="256032"/>
          </a:xfrm>
          <a:prstGeom prst="downArrow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37360" y="3328416"/>
            <a:ext cx="8686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Restaurateur becomes early adopter, claims their menu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4069080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207008" y="4517136"/>
            <a:ext cx="201168" cy="256032"/>
          </a:xfrm>
          <a:prstGeom prst="downArrow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37360" y="4105656"/>
            <a:ext cx="8686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At industry dinner, tells investor friends about the platform</a:t>
            </a:r>
          </a:p>
        </p:txBody>
      </p:sp>
      <p:sp>
        <p:nvSpPr>
          <p:cNvPr id="16" name="Oval 15"/>
          <p:cNvSpPr/>
          <p:nvPr/>
        </p:nvSpPr>
        <p:spPr>
          <a:xfrm>
            <a:off x="1097280" y="4846320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882896"/>
            <a:ext cx="8686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Investor hears from a trusted source, takes the call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Calibri"/>
              </a:rPr>
              <a:t>12/21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>
                <a:solidFill>
                  <a:srgbClr val="1F2937"/>
                </a:solidFill>
                <a:latin typeface="Calibri"/>
              </a:rPr>
              <a:t>Chain B: The FOMO Cascade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2286000" cy="381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97280" y="1737360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Down Arrow 4"/>
          <p:cNvSpPr/>
          <p:nvPr/>
        </p:nvSpPr>
        <p:spPr>
          <a:xfrm>
            <a:off x="1207008" y="2185416"/>
            <a:ext cx="201168" cy="256032"/>
          </a:xfrm>
          <a:prstGeom prst="downArrow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37360" y="1773936"/>
            <a:ext cx="8686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Seed 5–10 food influencers with exclusive beta access</a:t>
            </a:r>
          </a:p>
        </p:txBody>
      </p:sp>
      <p:sp>
        <p:nvSpPr>
          <p:cNvPr id="7" name="Oval 6"/>
          <p:cNvSpPr/>
          <p:nvPr/>
        </p:nvSpPr>
        <p:spPr>
          <a:xfrm>
            <a:off x="1097280" y="2514600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Down Arrow 7"/>
          <p:cNvSpPr/>
          <p:nvPr/>
        </p:nvSpPr>
        <p:spPr>
          <a:xfrm>
            <a:off x="1207008" y="2962656"/>
            <a:ext cx="201168" cy="256032"/>
          </a:xfrm>
          <a:prstGeom prst="downArrow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2551176"/>
            <a:ext cx="8686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Coordinated posts drop in a 48-hour window</a:t>
            </a:r>
          </a:p>
        </p:txBody>
      </p:sp>
      <p:sp>
        <p:nvSpPr>
          <p:cNvPr id="10" name="Oval 9"/>
          <p:cNvSpPr/>
          <p:nvPr/>
        </p:nvSpPr>
        <p:spPr>
          <a:xfrm>
            <a:off x="1097280" y="3291840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1207008" y="3739896"/>
            <a:ext cx="201168" cy="256032"/>
          </a:xfrm>
          <a:prstGeom prst="downArrow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37360" y="3328416"/>
            <a:ext cx="8686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Local media picks up the trend as a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4069080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207008" y="4517136"/>
            <a:ext cx="201168" cy="256032"/>
          </a:xfrm>
          <a:prstGeom prst="downArrow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37360" y="4105656"/>
            <a:ext cx="8686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Restaurateurs scramble to get rated before competitors</a:t>
            </a:r>
          </a:p>
        </p:txBody>
      </p:sp>
      <p:sp>
        <p:nvSpPr>
          <p:cNvPr id="16" name="Oval 15"/>
          <p:cNvSpPr/>
          <p:nvPr/>
        </p:nvSpPr>
        <p:spPr>
          <a:xfrm>
            <a:off x="1097280" y="4846320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882896"/>
            <a:ext cx="8686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Investors see market pull, not push — inbound interest spikes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Calibri"/>
              </a:rPr>
              <a:t>13/21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>
                <a:solidFill>
                  <a:srgbClr val="1F2937"/>
                </a:solidFill>
                <a:latin typeface="Calibri"/>
              </a:rPr>
              <a:t>Chain C: The University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2286000" cy="381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97280" y="1737360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Down Arrow 4"/>
          <p:cNvSpPr/>
          <p:nvPr/>
        </p:nvSpPr>
        <p:spPr>
          <a:xfrm>
            <a:off x="1207008" y="2185416"/>
            <a:ext cx="201168" cy="256032"/>
          </a:xfrm>
          <a:prstGeom prst="downArrow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37360" y="1773936"/>
            <a:ext cx="8686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Faculty connection at Penn / Temple / Drexel</a:t>
            </a:r>
          </a:p>
        </p:txBody>
      </p:sp>
      <p:sp>
        <p:nvSpPr>
          <p:cNvPr id="7" name="Oval 6"/>
          <p:cNvSpPr/>
          <p:nvPr/>
        </p:nvSpPr>
        <p:spPr>
          <a:xfrm>
            <a:off x="1097280" y="2514600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Down Arrow 7"/>
          <p:cNvSpPr/>
          <p:nvPr/>
        </p:nvSpPr>
        <p:spPr>
          <a:xfrm>
            <a:off x="1207008" y="2962656"/>
            <a:ext cx="201168" cy="256032"/>
          </a:xfrm>
          <a:prstGeom prst="downArrow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2551176"/>
            <a:ext cx="8686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Student beta testers sign up (200+ target)</a:t>
            </a:r>
          </a:p>
        </p:txBody>
      </p:sp>
      <p:sp>
        <p:nvSpPr>
          <p:cNvPr id="10" name="Oval 9"/>
          <p:cNvSpPr/>
          <p:nvPr/>
        </p:nvSpPr>
        <p:spPr>
          <a:xfrm>
            <a:off x="1097280" y="3291840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1207008" y="3739896"/>
            <a:ext cx="201168" cy="256032"/>
          </a:xfrm>
          <a:prstGeom prst="downArrow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37360" y="3328416"/>
            <a:ext cx="8686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Usage data spike + campus buzz create social proof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4069080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207008" y="4517136"/>
            <a:ext cx="201168" cy="256032"/>
          </a:xfrm>
          <a:prstGeom prst="downArrow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37360" y="4105656"/>
            <a:ext cx="8686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Faculty intro to university investor networks</a:t>
            </a:r>
          </a:p>
        </p:txBody>
      </p:sp>
      <p:sp>
        <p:nvSpPr>
          <p:cNvPr id="16" name="Oval 15"/>
          <p:cNvSpPr/>
          <p:nvPr/>
        </p:nvSpPr>
        <p:spPr>
          <a:xfrm>
            <a:off x="1097280" y="4846320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882896"/>
            <a:ext cx="8686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Alumni angel network presentation → warm capital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Calibri"/>
              </a:rPr>
              <a:t>14/21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>
                <a:solidFill>
                  <a:srgbClr val="1F2937"/>
                </a:solidFill>
                <a:latin typeface="Calibri"/>
              </a:rPr>
              <a:t>Chain D: The NJ-to-NYC Bridge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2286000" cy="381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97280" y="1737360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Down Arrow 4"/>
          <p:cNvSpPr/>
          <p:nvPr/>
        </p:nvSpPr>
        <p:spPr>
          <a:xfrm>
            <a:off x="1207008" y="2185416"/>
            <a:ext cx="201168" cy="256032"/>
          </a:xfrm>
          <a:prstGeom prst="downArrow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37360" y="1773936"/>
            <a:ext cx="8686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Princeton Entrepreneurship Council demo</a:t>
            </a:r>
          </a:p>
        </p:txBody>
      </p:sp>
      <p:sp>
        <p:nvSpPr>
          <p:cNvPr id="7" name="Oval 6"/>
          <p:cNvSpPr/>
          <p:nvPr/>
        </p:nvSpPr>
        <p:spPr>
          <a:xfrm>
            <a:off x="1097280" y="2514600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Down Arrow 7"/>
          <p:cNvSpPr/>
          <p:nvPr/>
        </p:nvSpPr>
        <p:spPr>
          <a:xfrm>
            <a:off x="1207008" y="2962656"/>
            <a:ext cx="201168" cy="256032"/>
          </a:xfrm>
          <a:prstGeom prst="downArrow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2551176"/>
            <a:ext cx="8686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NJ angel investors show interest, commit first checks</a:t>
            </a:r>
          </a:p>
        </p:txBody>
      </p:sp>
      <p:sp>
        <p:nvSpPr>
          <p:cNvPr id="10" name="Oval 9"/>
          <p:cNvSpPr/>
          <p:nvPr/>
        </p:nvSpPr>
        <p:spPr>
          <a:xfrm>
            <a:off x="1097280" y="3291840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1207008" y="3739896"/>
            <a:ext cx="201168" cy="256032"/>
          </a:xfrm>
          <a:prstGeom prst="downArrow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37360" y="3328416"/>
            <a:ext cx="8686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NJ–NYC co-investment bridge opens up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4069080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4105656"/>
            <a:ext cx="8686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1F2937"/>
                </a:solidFill>
                <a:latin typeface="Calibri"/>
              </a:rPr>
              <a:t>NYC VCs see tri-state traction, join the 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Calibri"/>
              </a:rPr>
              <a:t>15/21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>
                <a:solidFill>
                  <a:srgbClr val="1F2937"/>
                </a:solidFill>
                <a:latin typeface="Calibri"/>
              </a:rPr>
              <a:t>Creating urgency through scarcity and social proof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2286000" cy="381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737360"/>
            <a:ext cx="4754880" cy="36576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</a:pPr>
            <a:r>
              <a:rPr sz="1800" b="1">
                <a:solidFill>
                  <a:srgbClr val="1F2937"/>
                </a:solidFill>
                <a:latin typeface="Calibri"/>
              </a:rPr>
              <a:t>Scarcity tactics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1F2937"/>
                </a:solidFill>
                <a:latin typeface="Calibri"/>
              </a:rPr>
              <a:t>•  Limited beta slots (50 restaurants)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1F2937"/>
                </a:solidFill>
                <a:latin typeface="Calibri"/>
              </a:rPr>
              <a:t>•  "Founding Partner" tier closes permanently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1F2937"/>
                </a:solidFill>
                <a:latin typeface="Calibri"/>
              </a:rPr>
              <a:t>•  Exclusive data access window for early investors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1F2937"/>
                </a:solidFill>
                <a:latin typeface="Calibri"/>
              </a:rPr>
              <a:t>•  Capped round with first-come allocation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737360"/>
            <a:ext cx="4754880" cy="36576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</a:pPr>
            <a:r>
              <a:rPr sz="1800" b="1">
                <a:solidFill>
                  <a:srgbClr val="1F2937"/>
                </a:solidFill>
                <a:latin typeface="Calibri"/>
              </a:rPr>
              <a:t>Social proof manufacturing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1F2937"/>
                </a:solidFill>
                <a:latin typeface="Calibri"/>
              </a:rPr>
              <a:t>•  Coordinated influencer content drops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1F2937"/>
                </a:solidFill>
                <a:latin typeface="Calibri"/>
              </a:rPr>
              <a:t>•  Restaurant partner press announcements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1F2937"/>
                </a:solidFill>
                <a:latin typeface="Calibri"/>
              </a:rPr>
              <a:t>•  University engagement metrics published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1F2937"/>
                </a:solidFill>
                <a:latin typeface="Calibri"/>
              </a:rPr>
              <a:t>•  Investor interest ticker on landing page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Calibri"/>
              </a:rPr>
              <a:t>16/21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>
                <a:solidFill>
                  <a:srgbClr val="1F2937"/>
                </a:solidFill>
                <a:latin typeface="Calibri"/>
              </a:rPr>
              <a:t>The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2286000" cy="381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737360"/>
            <a:ext cx="4754880" cy="36576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F2937"/>
                </a:solidFill>
                <a:latin typeface="Calibri"/>
              </a:rPr>
              <a:t>Nik Amin</a:t>
            </a:r>
          </a:p>
          <a:p>
            <a:pPr>
              <a:spcAft>
                <a:spcPts val="1400"/>
              </a:spcAft>
            </a:pPr>
            <a:r>
              <a:rPr sz="1500" b="1">
                <a:solidFill>
                  <a:srgbClr val="16A34A"/>
                </a:solidFill>
                <a:latin typeface="Calibri"/>
              </a:rPr>
              <a:t>CEO &amp; Co-Founder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F2937"/>
                </a:solidFill>
                <a:latin typeface="Calibri"/>
              </a:rPr>
              <a:t>•  Bay Area — Product &amp; Engineering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F2937"/>
                </a:solidFill>
                <a:latin typeface="Calibri"/>
              </a:rPr>
              <a:t>•  Built entire platform (93K lines)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F2937"/>
                </a:solidFill>
                <a:latin typeface="Calibri"/>
              </a:rPr>
              <a:t>•  Patent-pending AI scoring algorithm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F2937"/>
                </a:solidFill>
                <a:latin typeface="Calibri"/>
              </a:rPr>
              <a:t>•  Full-stack: React, Python, ML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737360"/>
            <a:ext cx="4754880" cy="36576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F2937"/>
                </a:solidFill>
                <a:latin typeface="Calibri"/>
              </a:rPr>
              <a:t>Ali Mabsoute</a:t>
            </a:r>
          </a:p>
          <a:p>
            <a:pPr>
              <a:spcAft>
                <a:spcPts val="1400"/>
              </a:spcAft>
            </a:pPr>
            <a:r>
              <a:rPr sz="1500" b="1">
                <a:solidFill>
                  <a:srgbClr val="16A34A"/>
                </a:solidFill>
                <a:latin typeface="Calibri"/>
              </a:rPr>
              <a:t>CMO &amp; Co-Founder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F2937"/>
                </a:solidFill>
                <a:latin typeface="Calibri"/>
              </a:rPr>
              <a:t>•  UPenn grad, 15 years in Philadelphia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F2937"/>
                </a:solidFill>
                <a:latin typeface="Calibri"/>
              </a:rPr>
              <a:t>•  Hyatt, Citi, American Express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F2937"/>
                </a:solidFill>
                <a:latin typeface="Calibri"/>
              </a:rPr>
              <a:t>•  Deep Philadelphia market knowledge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F2937"/>
                </a:solidFill>
                <a:latin typeface="Calibri"/>
              </a:rPr>
              <a:t>•  Growth strategy &amp; investor relations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Calibri"/>
              </a:rPr>
              <a:t>17/21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>
                <a:solidFill>
                  <a:srgbClr val="1F2937"/>
                </a:solidFill>
                <a:latin typeface="Calibri"/>
              </a:rPr>
              <a:t>Path to $18M ARR by 2029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2286000" cy="381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645920"/>
            <a:ext cx="3108960" cy="173736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600" b="1">
                <a:solidFill>
                  <a:srgbClr val="16A34A"/>
                </a:solidFill>
                <a:latin typeface="Calibri"/>
              </a:rPr>
              <a:t>$120K</a:t>
            </a:r>
          </a:p>
          <a:p>
            <a:pPr algn="ctr"/>
            <a:r>
              <a:rPr sz="1200" b="0">
                <a:solidFill>
                  <a:srgbClr val="9CA3AF"/>
                </a:solidFill>
                <a:latin typeface="Calibri"/>
              </a:rPr>
              <a:t>2026 ARR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09160" y="1645920"/>
            <a:ext cx="3108960" cy="173736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600" b="1">
                <a:solidFill>
                  <a:srgbClr val="16A34A"/>
                </a:solidFill>
                <a:latin typeface="Calibri"/>
              </a:rPr>
              <a:t>$1.2M</a:t>
            </a:r>
          </a:p>
          <a:p>
            <a:pPr algn="ctr"/>
            <a:r>
              <a:rPr sz="1200" b="0">
                <a:solidFill>
                  <a:srgbClr val="9CA3AF"/>
                </a:solidFill>
                <a:latin typeface="Calibri"/>
              </a:rPr>
              <a:t>2027 ARR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1645920"/>
            <a:ext cx="3108960" cy="173736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600" b="1">
                <a:solidFill>
                  <a:srgbClr val="16A34A"/>
                </a:solidFill>
                <a:latin typeface="Calibri"/>
              </a:rPr>
              <a:t>$18M</a:t>
            </a:r>
          </a:p>
          <a:p>
            <a:pPr algn="ctr"/>
            <a:r>
              <a:rPr sz="1200" b="0">
                <a:solidFill>
                  <a:srgbClr val="9CA3AF"/>
                </a:solidFill>
                <a:latin typeface="Calibri"/>
              </a:rPr>
              <a:t>2029 ARR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3749040"/>
            <a:ext cx="3108960" cy="173736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600" b="1">
                <a:solidFill>
                  <a:srgbClr val="1F2937"/>
                </a:solidFill>
                <a:latin typeface="Calibri"/>
              </a:rPr>
              <a:t>70%+</a:t>
            </a:r>
          </a:p>
          <a:p>
            <a:pPr algn="ctr"/>
            <a:r>
              <a:rPr sz="1200" b="0">
                <a:solidFill>
                  <a:srgbClr val="9CA3AF"/>
                </a:solidFill>
                <a:latin typeface="Calibri"/>
              </a:rPr>
              <a:t>Gross Margin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60" y="3749040"/>
            <a:ext cx="3108960" cy="173736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600" b="1">
                <a:solidFill>
                  <a:srgbClr val="1F2937"/>
                </a:solidFill>
                <a:latin typeface="Calibri"/>
              </a:rPr>
              <a:t>3 mo</a:t>
            </a:r>
          </a:p>
          <a:p>
            <a:pPr algn="ctr"/>
            <a:r>
              <a:rPr sz="1200" b="0">
                <a:solidFill>
                  <a:srgbClr val="9CA3AF"/>
                </a:solidFill>
                <a:latin typeface="Calibri"/>
              </a:rPr>
              <a:t>CAC Payback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3749040"/>
            <a:ext cx="3108960" cy="173736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600" b="1">
                <a:solidFill>
                  <a:srgbClr val="1F2937"/>
                </a:solidFill>
                <a:latin typeface="Calibri"/>
              </a:rPr>
              <a:t>6.5x</a:t>
            </a:r>
          </a:p>
          <a:p>
            <a:pPr algn="ctr"/>
            <a:r>
              <a:rPr sz="1200" b="0">
                <a:solidFill>
                  <a:srgbClr val="9CA3AF"/>
                </a:solidFill>
                <a:latin typeface="Calibri"/>
              </a:rPr>
              <a:t>LTV:CAC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>
                <a:solidFill>
                  <a:srgbClr val="9CA3AF"/>
                </a:solidFill>
                <a:latin typeface="Calibri"/>
              </a:rPr>
              <a:t>Path to profitability in Q4 2028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Calibri"/>
              </a:rPr>
              <a:t>18/21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>
                <a:solidFill>
                  <a:srgbClr val="1F2937"/>
                </a:solidFill>
                <a:latin typeface="Calibri"/>
              </a:rPr>
              <a:t>Raising $500K–$1.5M seed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2286000" cy="381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16A34A"/>
                </a:solidFill>
                <a:latin typeface="Calibri"/>
              </a:rPr>
              <a:t>$3M–$6M pre-money valuation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2327" y="2286000"/>
            <a:ext cx="2377440" cy="27432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4000" b="1">
                <a:solidFill>
                  <a:srgbClr val="16A34A"/>
                </a:solidFill>
                <a:latin typeface="Calibri"/>
              </a:rPr>
              <a:t>40%</a:t>
            </a:r>
          </a:p>
          <a:p>
            <a:pPr algn="ctr"/>
            <a:r>
              <a:rPr sz="1300" b="0">
                <a:solidFill>
                  <a:srgbClr val="9CA3AF"/>
                </a:solidFill>
                <a:latin typeface="Calibri"/>
              </a:rPr>
              <a:t>Engineering &amp; 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35527" y="2286000"/>
            <a:ext cx="2377440" cy="27432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4000" b="1">
                <a:solidFill>
                  <a:srgbClr val="16A34A"/>
                </a:solidFill>
                <a:latin typeface="Calibri"/>
              </a:rPr>
              <a:t>25%</a:t>
            </a:r>
          </a:p>
          <a:p>
            <a:pPr algn="ctr"/>
            <a:r>
              <a:rPr sz="1300" b="0">
                <a:solidFill>
                  <a:srgbClr val="9CA3AF"/>
                </a:solidFill>
                <a:latin typeface="Calibri"/>
              </a:rPr>
              <a:t>Growth &amp; Marketing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2286000"/>
            <a:ext cx="2377440" cy="27432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4000" b="1">
                <a:solidFill>
                  <a:srgbClr val="16A34A"/>
                </a:solidFill>
                <a:latin typeface="Calibri"/>
              </a:rPr>
              <a:t>20%</a:t>
            </a:r>
          </a:p>
          <a:p>
            <a:pPr algn="ctr"/>
            <a:r>
              <a:rPr sz="1300" b="0">
                <a:solidFill>
                  <a:srgbClr val="9CA3AF"/>
                </a:solidFill>
                <a:latin typeface="Calibri"/>
              </a:rPr>
              <a:t>Business Development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21927" y="2286000"/>
            <a:ext cx="2377440" cy="27432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4000" b="1">
                <a:solidFill>
                  <a:srgbClr val="16A34A"/>
                </a:solidFill>
                <a:latin typeface="Calibri"/>
              </a:rPr>
              <a:t>15%</a:t>
            </a:r>
          </a:p>
          <a:p>
            <a:pPr algn="ctr"/>
            <a:r>
              <a:rPr sz="1300" b="0">
                <a:solidFill>
                  <a:srgbClr val="9CA3AF"/>
                </a:solidFill>
                <a:latin typeface="Calibri"/>
              </a:rPr>
              <a:t>Operations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Calibri"/>
              </a:rPr>
              <a:t>19/21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>
                <a:solidFill>
                  <a:srgbClr val="1F2937"/>
                </a:solidFill>
                <a:latin typeface="Calibri"/>
              </a:rPr>
              <a:t>12-week sprint to close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2286000" cy="381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92327" y="1645920"/>
            <a:ext cx="2377440" cy="32004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16A34A"/>
                </a:solidFill>
                <a:latin typeface="Calibri"/>
              </a:rPr>
              <a:t>Week 1–2</a:t>
            </a:r>
          </a:p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1F2937"/>
                </a:solidFill>
                <a:latin typeface="Calibri"/>
              </a:rPr>
              <a:t>Foundation</a:t>
            </a:r>
          </a:p>
          <a:p>
            <a:pPr algn="ctr"/>
            <a:r>
              <a:rPr sz="1100">
                <a:solidFill>
                  <a:srgbClr val="9CA3AF"/>
                </a:solidFill>
                <a:latin typeface="Calibri"/>
              </a:rPr>
              <a:t>Recruit influencers, onboard restaurants,
submit accelerator applications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188055" y="3108960"/>
            <a:ext cx="320040" cy="274320"/>
          </a:xfrm>
          <a:prstGeom prst="rightArrow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35527" y="1645920"/>
            <a:ext cx="2377440" cy="32004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16A34A"/>
                </a:solidFill>
                <a:latin typeface="Calibri"/>
              </a:rPr>
              <a:t>Week 3–4</a:t>
            </a:r>
          </a:p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1F2937"/>
                </a:solidFill>
                <a:latin typeface="Calibri"/>
              </a:rPr>
              <a:t>Momentum</a:t>
            </a:r>
          </a:p>
          <a:p>
            <a:pPr algn="ctr"/>
            <a:r>
              <a:rPr sz="1100">
                <a:solidFill>
                  <a:srgbClr val="9CA3AF"/>
                </a:solidFill>
                <a:latin typeface="Calibri"/>
              </a:rPr>
              <a:t>Coordinated content drops, media outreach,
university beta launch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931255" y="3108960"/>
            <a:ext cx="320040" cy="274320"/>
          </a:xfrm>
          <a:prstGeom prst="rightArrow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78727" y="1645920"/>
            <a:ext cx="2377440" cy="32004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16A34A"/>
                </a:solidFill>
                <a:latin typeface="Calibri"/>
              </a:rPr>
              <a:t>Week 5–8</a:t>
            </a:r>
          </a:p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1F2937"/>
                </a:solidFill>
                <a:latin typeface="Calibri"/>
              </a:rPr>
              <a:t>Acceleration</a:t>
            </a:r>
          </a:p>
          <a:p>
            <a:pPr algn="ctr"/>
            <a:r>
              <a:rPr sz="1100">
                <a:solidFill>
                  <a:srgbClr val="9CA3AF"/>
                </a:solidFill>
                <a:latin typeface="Calibri"/>
              </a:rPr>
              <a:t>10+ investor meetings, shift from
push to pull, FOMO builds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674455" y="3108960"/>
            <a:ext cx="320040" cy="274320"/>
          </a:xfrm>
          <a:prstGeom prst="rightArrow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021927" y="1645920"/>
            <a:ext cx="2377440" cy="32004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16A34A"/>
                </a:solidFill>
                <a:latin typeface="Calibri"/>
              </a:rPr>
              <a:t>Week 9–12</a:t>
            </a:r>
          </a:p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1F2937"/>
                </a:solidFill>
                <a:latin typeface="Calibri"/>
              </a:rPr>
              <a:t>Close</a:t>
            </a:r>
          </a:p>
          <a:p>
            <a:pPr algn="ctr"/>
            <a:r>
              <a:rPr sz="1100">
                <a:solidFill>
                  <a:srgbClr val="9CA3AF"/>
                </a:solidFill>
                <a:latin typeface="Calibri"/>
              </a:rPr>
              <a:t>Term sheets, strategic investors,
funding announcement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Calibri"/>
              </a:rPr>
              <a:t>20/21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0" y="1828800"/>
            <a:ext cx="2103120" cy="381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103120"/>
            <a:ext cx="12191695" cy="822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800" b="1">
                <a:solidFill>
                  <a:srgbClr val="1F2937"/>
                </a:solidFill>
                <a:latin typeface="Calibri"/>
              </a:rPr>
              <a:t>Tastyr IQ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017520"/>
            <a:ext cx="12191695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000" b="0">
                <a:solidFill>
                  <a:srgbClr val="9CA3AF"/>
                </a:solidFill>
                <a:latin typeface="Calibri"/>
              </a:rPr>
              <a:t>Rate the dish. Not the restaurant.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840480"/>
            <a:ext cx="1219169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16A34A"/>
                </a:solidFill>
                <a:latin typeface="Calibri"/>
              </a:rPr>
              <a:t>nik@tastyiq.com  |  tastyiq.com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72000"/>
            <a:ext cx="12191695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>
                <a:solidFill>
                  <a:srgbClr val="9CA3AF"/>
                </a:solidFill>
                <a:latin typeface="Calibri"/>
              </a:rPr>
              <a:t>Patent Pending  |  App Store Live  |  Philadelphia, PA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5120640"/>
            <a:ext cx="2103120" cy="381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914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>
                <a:solidFill>
                  <a:srgbClr val="9CA3AF"/>
                </a:solidFill>
                <a:latin typeface="Calibri"/>
              </a:rPr>
              <a:t>21/21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