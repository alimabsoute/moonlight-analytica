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36576"/>
          </a:xfrm>
          <a:prstGeom prst="rect">
            <a:avLst/>
          </a:prstGeom>
          <a:solidFill>
            <a:srgbClr val="D4A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D4A534"/>
                </a:solidFill>
                <a:latin typeface="Calibri"/>
              </a:defRPr>
            </a:pPr>
            <a:r>
              <a:t>TASTYR IQ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Tri-State Outreach &amp; Investment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8E8E8"/>
                </a:solidFill>
                <a:latin typeface="Calibri"/>
              </a:defRPr>
            </a:pPr>
            <a:r>
              <a:t>AI-Powered Dish Intelligence  |  Patent Pending  |  App Store 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Calibri"/>
              </a:defRPr>
            </a:pPr>
            <a:r>
              <a:t>March 2026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A534"/>
                </a:solidFill>
                <a:latin typeface="Calibri"/>
              </a:defRPr>
            </a:pPr>
            <a:r>
              <a:t>THE OPPORTUNITY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4572000" cy="27432"/>
          </a:xfrm>
          <a:prstGeom prst="rect">
            <a:avLst/>
          </a:prstGeom>
          <a:solidFill>
            <a:srgbClr val="D4A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$371B US Restaurant Industry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Nobody rates the actual FOOD — only restaurants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A 4-star restaurant can have 2-star dishes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Consumers waste money on bad dishes at good restaurants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Restaurants don't know which dishes are actually loved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No data layer exists at the dish level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Tastyr IQ is Rotten Tomatoes for food.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371600"/>
            <a:ext cx="4114800" cy="1188720"/>
          </a:xfrm>
          <a:prstGeom prst="roundRect">
            <a:avLst/>
          </a:prstGeom>
          <a:solidFill>
            <a:srgbClr val="1A2A44"/>
          </a:solidFill>
          <a:ln w="12700">
            <a:solidFill>
              <a:srgbClr val="D4A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0" y="1463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534"/>
                </a:solidFill>
                <a:latin typeface="Calibri"/>
              </a:defRPr>
            </a:pPr>
            <a:r>
              <a:t>TAM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8288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$371B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2834640"/>
            <a:ext cx="4114800" cy="1188720"/>
          </a:xfrm>
          <a:prstGeom prst="roundRect">
            <a:avLst/>
          </a:prstGeom>
          <a:solidFill>
            <a:srgbClr val="1A2A44"/>
          </a:solidFill>
          <a:ln w="12700">
            <a:solidFill>
              <a:srgbClr val="D4A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0" y="2926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534"/>
                </a:solidFill>
                <a:latin typeface="Calibri"/>
              </a:defRPr>
            </a:pPr>
            <a:r>
              <a:t>SAM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918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$23B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4297680"/>
            <a:ext cx="4114800" cy="1188720"/>
          </a:xfrm>
          <a:prstGeom prst="roundRect">
            <a:avLst/>
          </a:prstGeom>
          <a:solidFill>
            <a:srgbClr val="1A2A44"/>
          </a:solidFill>
          <a:ln w="12700">
            <a:solidFill>
              <a:srgbClr val="D4A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4389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534"/>
                </a:solidFill>
                <a:latin typeface="Calibri"/>
              </a:defRPr>
            </a:pPr>
            <a:r>
              <a:t>SOM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47548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$2.3B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A534"/>
                </a:solidFill>
                <a:latin typeface="Calibri"/>
              </a:defRPr>
            </a:pPr>
            <a:r>
              <a:t>OUR TRACTION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4572000" cy="27432"/>
          </a:xfrm>
          <a:prstGeom prst="rect">
            <a:avLst/>
          </a:prstGeom>
          <a:solidFill>
            <a:srgbClr val="D4A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011680" cy="2286000"/>
          </a:xfrm>
          <a:prstGeom prst="roundRect">
            <a:avLst/>
          </a:prstGeom>
          <a:solidFill>
            <a:srgbClr val="1A2A44"/>
          </a:solidFill>
          <a:ln w="12700">
            <a:solidFill>
              <a:srgbClr val="D4A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D4A534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Live Dish</a:t>
            </a:r>
            <a:br/>
            <a:r>
              <a:t>Verticals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371600"/>
            <a:ext cx="2011680" cy="2286000"/>
          </a:xfrm>
          <a:prstGeom prst="roundRect">
            <a:avLst/>
          </a:prstGeom>
          <a:solidFill>
            <a:srgbClr val="1A2A44"/>
          </a:solidFill>
          <a:ln w="12700">
            <a:solidFill>
              <a:srgbClr val="D4A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40" y="15544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D4A534"/>
                </a:solidFill>
                <a:latin typeface="Calibri"/>
              </a:defRPr>
            </a:pPr>
            <a:r>
              <a:t>2,490+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7432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Indexed</a:t>
            </a:r>
            <a:br/>
            <a:r>
              <a:t>Dishes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1371600"/>
            <a:ext cx="2011680" cy="2286000"/>
          </a:xfrm>
          <a:prstGeom prst="roundRect">
            <a:avLst/>
          </a:prstGeom>
          <a:solidFill>
            <a:srgbClr val="1A2A44"/>
          </a:solidFill>
          <a:ln w="12700">
            <a:solidFill>
              <a:srgbClr val="D4A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15544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D4A534"/>
                </a:solidFill>
                <a:latin typeface="Calibri"/>
              </a:defRPr>
            </a:pPr>
            <a:r>
              <a:t>~93K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7432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Lines of</a:t>
            </a:r>
            <a:br/>
            <a:r>
              <a:t>Code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371600"/>
            <a:ext cx="2011680" cy="2286000"/>
          </a:xfrm>
          <a:prstGeom prst="roundRect">
            <a:avLst/>
          </a:prstGeom>
          <a:solidFill>
            <a:srgbClr val="1A2A44"/>
          </a:solidFill>
          <a:ln w="12700">
            <a:solidFill>
              <a:srgbClr val="D4A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15544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D4A534"/>
                </a:solidFill>
                <a:latin typeface="Calibri"/>
              </a:defRPr>
            </a:pPr>
            <a:r>
              <a:t>Patent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27432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Pending</a:t>
            </a:r>
            <a:br/>
            <a:r>
              <a:t>Filing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0" y="1371600"/>
            <a:ext cx="2011680" cy="2286000"/>
          </a:xfrm>
          <a:prstGeom prst="roundRect">
            <a:avLst/>
          </a:prstGeom>
          <a:solidFill>
            <a:srgbClr val="1A2A44"/>
          </a:solidFill>
          <a:ln w="12700">
            <a:solidFill>
              <a:srgbClr val="D4A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0" y="15544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D4A534"/>
                </a:solidFill>
                <a:latin typeface="Calibri"/>
              </a:defRPr>
            </a:pPr>
            <a:r>
              <a:t>Live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27432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App Store</a:t>
            </a:r>
            <a:br/>
            <a:r>
              <a:t>Approved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114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E8"/>
                </a:solidFill>
                <a:latin typeface="Calibri"/>
              </a:defRPr>
            </a:pPr>
            <a:r>
              <a:t>Co-Founders: Nik Amin (CEO, Bay Area) &amp; Ali Mabsoute (CMO, Philadelphia)</a:t>
            </a:r>
            <a:br/>
            <a:r>
              <a:t>Ali: UPenn | 15yr Philadelphia | Hyatt, Citibank, American Express | Old City Labs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A534"/>
                </a:solidFill>
                <a:latin typeface="Calibri"/>
              </a:defRPr>
            </a:pPr>
            <a:r>
              <a:t>OUTREACH PHILOSOPHY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4572000" cy="27432"/>
          </a:xfrm>
          <a:prstGeom prst="rect">
            <a:avLst/>
          </a:prstGeom>
          <a:solidFill>
            <a:srgbClr val="D4A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"Create the wave. Don't chase it."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3474720" cy="3200400"/>
          </a:xfrm>
          <a:prstGeom prst="roundRect">
            <a:avLst/>
          </a:prstGeom>
          <a:solidFill>
            <a:srgbClr val="1A2A44"/>
          </a:solidFill>
          <a:ln w="19050">
            <a:solidFill>
              <a:srgbClr val="D4A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4A534"/>
                </a:solidFill>
                <a:latin typeface="Calibri"/>
              </a:defRPr>
            </a:pPr>
            <a:r>
              <a:t>SOCIAL PROOF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Build buzz before</a:t>
            </a:r>
            <a:br/>
            <a:r>
              <a:t>approaching investors.</a:t>
            </a:r>
            <a:br/>
            <a:r>
              <a:t>Influencers, media,</a:t>
            </a:r>
            <a:br/>
            <a:r>
              <a:t>restaurateurs first.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2743200"/>
            <a:ext cx="3474720" cy="3200400"/>
          </a:xfrm>
          <a:prstGeom prst="roundRect">
            <a:avLst/>
          </a:prstGeom>
          <a:solidFill>
            <a:srgbClr val="1A2A44"/>
          </a:solidFill>
          <a:ln w="19050">
            <a:solidFill>
              <a:srgbClr val="D4A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2926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4A534"/>
                </a:solidFill>
                <a:latin typeface="Calibri"/>
              </a:defRPr>
            </a:pPr>
            <a:r>
              <a:t>CHAIN 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356616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Every person is a link.</a:t>
            </a:r>
            <a:br/>
            <a:r>
              <a:t>Blogger &gt; Restaurant &gt;</a:t>
            </a:r>
            <a:br/>
            <a:r>
              <a:t>Investor. Never cold.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2743200"/>
            <a:ext cx="3474720" cy="3200400"/>
          </a:xfrm>
          <a:prstGeom prst="roundRect">
            <a:avLst/>
          </a:prstGeom>
          <a:solidFill>
            <a:srgbClr val="1A2A44"/>
          </a:solidFill>
          <a:ln w="19050">
            <a:solidFill>
              <a:srgbClr val="D4A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0" y="2926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4A534"/>
                </a:solidFill>
                <a:latin typeface="Calibri"/>
              </a:defRPr>
            </a:pPr>
            <a:r>
              <a:t>PSYCHOLOGY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356616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Cialdini principles</a:t>
            </a:r>
            <a:br/>
            <a:r>
              <a:t>applied to every</a:t>
            </a:r>
            <a:br/>
            <a:r>
              <a:t>message. Authority,</a:t>
            </a:r>
            <a:br/>
            <a:r>
              <a:t>Scarcity, Unity.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A534"/>
                </a:solidFill>
                <a:latin typeface="Calibri"/>
              </a:defRPr>
            </a:pPr>
            <a:r>
              <a:t>THE 12 SEGMENTS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4572000" cy="27432"/>
          </a:xfrm>
          <a:prstGeom prst="rect">
            <a:avLst/>
          </a:prstGeom>
          <a:solidFill>
            <a:srgbClr val="D4A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534"/>
                </a:solidFill>
                <a:latin typeface="Calibri"/>
              </a:defRPr>
            </a:pPr>
            <a:r>
              <a:t>INVESTOR TRACK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3474720" cy="914400"/>
          </a:xfrm>
          <a:prstGeom prst="roundRect">
            <a:avLst/>
          </a:prstGeom>
          <a:solidFill>
            <a:srgbClr val="1A2A44"/>
          </a:solidFill>
          <a:ln w="12700">
            <a:solidFill>
              <a:srgbClr val="D4A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Angel Investors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4A534"/>
                </a:solidFill>
                <a:latin typeface="Calibri"/>
              </a:defRPr>
            </a:pPr>
            <a:r>
              <a:t>34 contacts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26080"/>
            <a:ext cx="3474720" cy="914400"/>
          </a:xfrm>
          <a:prstGeom prst="roundRect">
            <a:avLst/>
          </a:prstGeom>
          <a:solidFill>
            <a:srgbClr val="1A2A44"/>
          </a:solidFill>
          <a:ln w="12700">
            <a:solidFill>
              <a:srgbClr val="D4A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Venture Capital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83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4A534"/>
                </a:solidFill>
                <a:latin typeface="Calibri"/>
              </a:defRPr>
            </a:pPr>
            <a:r>
              <a:t>49 contacts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023360"/>
            <a:ext cx="3474720" cy="914400"/>
          </a:xfrm>
          <a:prstGeom prst="roundRect">
            <a:avLst/>
          </a:prstGeom>
          <a:solidFill>
            <a:srgbClr val="1A2A44"/>
          </a:solidFill>
          <a:ln w="12700">
            <a:solidFill>
              <a:srgbClr val="3A7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114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Private Equity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80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4A534"/>
                </a:solidFill>
                <a:latin typeface="Calibri"/>
              </a:defRPr>
            </a:pPr>
            <a:r>
              <a:t>11 contacts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120640"/>
            <a:ext cx="3474720" cy="914400"/>
          </a:xfrm>
          <a:prstGeom prst="roundRect">
            <a:avLst/>
          </a:prstGeom>
          <a:solidFill>
            <a:srgbClr val="1A2A44"/>
          </a:solidFill>
          <a:ln w="12700">
            <a:solidFill>
              <a:srgbClr val="3A7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21207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Accelerators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577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4A534"/>
                </a:solidFill>
                <a:latin typeface="Calibri"/>
              </a:defRPr>
            </a:pPr>
            <a:r>
              <a:t>24 contacts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1188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534"/>
                </a:solidFill>
                <a:latin typeface="Calibri"/>
              </a:defRPr>
            </a:pPr>
            <a:r>
              <a:t>INFLUENCE TRACK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1828800"/>
            <a:ext cx="3474720" cy="914400"/>
          </a:xfrm>
          <a:prstGeom prst="roundRect">
            <a:avLst/>
          </a:prstGeom>
          <a:solidFill>
            <a:srgbClr val="1A2A44"/>
          </a:solidFill>
          <a:ln w="12700">
            <a:solidFill>
              <a:srgbClr val="D4A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Restaurateurs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4A534"/>
                </a:solidFill>
                <a:latin typeface="Calibri"/>
              </a:defRPr>
            </a:pPr>
            <a:r>
              <a:t>32 contacts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2926080"/>
            <a:ext cx="3474720" cy="914400"/>
          </a:xfrm>
          <a:prstGeom prst="roundRect">
            <a:avLst/>
          </a:prstGeom>
          <a:solidFill>
            <a:srgbClr val="1A2A44"/>
          </a:solidFill>
          <a:ln w="12700">
            <a:solidFill>
              <a:srgbClr val="D4A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3017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Food Bloggers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3383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4A534"/>
                </a:solidFill>
                <a:latin typeface="Calibri"/>
              </a:defRPr>
            </a:pPr>
            <a:r>
              <a:t>31 contacts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4023360"/>
            <a:ext cx="3474720" cy="914400"/>
          </a:xfrm>
          <a:prstGeom prst="roundRect">
            <a:avLst/>
          </a:prstGeom>
          <a:solidFill>
            <a:srgbClr val="1A2A44"/>
          </a:solidFill>
          <a:ln w="12700">
            <a:solidFill>
              <a:srgbClr val="3A7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0" y="4114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Media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4480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4A534"/>
                </a:solidFill>
                <a:latin typeface="Calibri"/>
              </a:defRPr>
            </a:pPr>
            <a:r>
              <a:t>25 contacts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7680" y="5120640"/>
            <a:ext cx="3474720" cy="914400"/>
          </a:xfrm>
          <a:prstGeom prst="roundRect">
            <a:avLst/>
          </a:prstGeom>
          <a:solidFill>
            <a:srgbClr val="1A2A44"/>
          </a:solidFill>
          <a:ln w="12700">
            <a:solidFill>
              <a:srgbClr val="3A7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60" y="521207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University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577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4A534"/>
                </a:solidFill>
                <a:latin typeface="Calibri"/>
              </a:defRPr>
            </a:pPr>
            <a:r>
              <a:t>21 contacts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1188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534"/>
                </a:solidFill>
                <a:latin typeface="Calibri"/>
              </a:defRPr>
            </a:pPr>
            <a:r>
              <a:t>CONNECTOR TRACK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1828800"/>
            <a:ext cx="3474720" cy="914400"/>
          </a:xfrm>
          <a:prstGeom prst="roundRect">
            <a:avLst/>
          </a:prstGeom>
          <a:solidFill>
            <a:srgbClr val="1A2A44"/>
          </a:solidFill>
          <a:ln w="12700">
            <a:solidFill>
              <a:srgbClr val="3A7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Tech Founders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4A534"/>
                </a:solidFill>
                <a:latin typeface="Calibri"/>
              </a:defRPr>
            </a:pPr>
            <a:r>
              <a:t>24 contacts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38160" y="2926080"/>
            <a:ext cx="3474720" cy="914400"/>
          </a:xfrm>
          <a:prstGeom prst="roundRect">
            <a:avLst/>
          </a:prstGeom>
          <a:solidFill>
            <a:srgbClr val="1A2A44"/>
          </a:solidFill>
          <a:ln w="12700">
            <a:solidFill>
              <a:srgbClr val="3A7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40" y="3017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Food Industry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3383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4A534"/>
                </a:solidFill>
                <a:latin typeface="Calibri"/>
              </a:defRPr>
            </a:pPr>
            <a:r>
              <a:t>24 contacts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38160" y="4023360"/>
            <a:ext cx="3474720" cy="914400"/>
          </a:xfrm>
          <a:prstGeom prst="roundRect">
            <a:avLst/>
          </a:prstGeom>
          <a:solidFill>
            <a:srgbClr val="1A2A44"/>
          </a:solidFill>
          <a:ln w="12700">
            <a:solidFill>
              <a:srgbClr val="D4A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0" y="4114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NJ/DE/Suburbs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4480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4A534"/>
                </a:solidFill>
                <a:latin typeface="Calibri"/>
              </a:defRPr>
            </a:pPr>
            <a:r>
              <a:t>34 contacts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4A534"/>
                </a:solidFill>
                <a:latin typeface="Calibri"/>
              </a:defRPr>
            </a:pPr>
            <a:r>
              <a:t>TOTAL: 309 contacts across the tri-state area (PA, NJ, DE)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A534"/>
                </a:solidFill>
                <a:latin typeface="Calibri"/>
              </a:defRPr>
            </a:pPr>
            <a:r>
              <a:t>GEOGRAPHIC COVERAGE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4572000" cy="27432"/>
          </a:xfrm>
          <a:prstGeom prst="rect">
            <a:avLst/>
          </a:prstGeom>
          <a:solidFill>
            <a:srgbClr val="D4A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474720" cy="2286000"/>
          </a:xfrm>
          <a:prstGeom prst="roundRect">
            <a:avLst/>
          </a:prstGeom>
          <a:solidFill>
            <a:srgbClr val="1A2A44"/>
          </a:solidFill>
          <a:ln w="12700">
            <a:solidFill>
              <a:srgbClr val="D4A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534"/>
                </a:solidFill>
                <a:latin typeface="Calibri"/>
              </a:defRPr>
            </a:pPr>
            <a:r>
              <a:t>PHILADELPHIA (PA)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127 contacts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Calibri"/>
              </a:defRPr>
            </a:pPr>
            <a:r>
              <a:t>Primary Market</a:t>
            </a:r>
            <a:br/>
            <a:r>
              <a:t>Ali's home base</a:t>
            </a:r>
            <a:br/>
            <a:r>
              <a:t>15 years of relationships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371600"/>
            <a:ext cx="3474720" cy="2286000"/>
          </a:xfrm>
          <a:prstGeom prst="roundRect">
            <a:avLst/>
          </a:prstGeom>
          <a:solidFill>
            <a:srgbClr val="1A2A44"/>
          </a:solidFill>
          <a:ln w="12700">
            <a:solidFill>
              <a:srgbClr val="D4A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508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534"/>
                </a:solidFill>
                <a:latin typeface="Calibri"/>
              </a:defRPr>
            </a:pPr>
            <a:r>
              <a:t>NEW JERSEY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9202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53 contacts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5603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Calibri"/>
              </a:defRPr>
            </a:pPr>
            <a:r>
              <a:t>Secondary Market</a:t>
            </a:r>
            <a:br/>
            <a:r>
              <a:t>Princeton corridor</a:t>
            </a:r>
            <a:br/>
            <a:r>
              <a:t>NJ Angels + food scene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371600"/>
            <a:ext cx="3474720" cy="2286000"/>
          </a:xfrm>
          <a:prstGeom prst="roundRect">
            <a:avLst/>
          </a:prstGeom>
          <a:solidFill>
            <a:srgbClr val="1A2A44"/>
          </a:solidFill>
          <a:ln w="12700">
            <a:solidFill>
              <a:srgbClr val="D4A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508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534"/>
                </a:solidFill>
                <a:latin typeface="Calibri"/>
              </a:defRPr>
            </a:pPr>
            <a:r>
              <a:t>DELAWARE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9202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9 contacts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5603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Calibri"/>
              </a:defRPr>
            </a:pPr>
            <a:r>
              <a:t>Tertiary Market</a:t>
            </a:r>
            <a:br/>
            <a:r>
              <a:t>Horn Entrepreneurship</a:t>
            </a:r>
            <a:br/>
            <a:r>
              <a:t>Dogfish Head crossover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114800"/>
            <a:ext cx="3474720" cy="2286000"/>
          </a:xfrm>
          <a:prstGeom prst="roundRect">
            <a:avLst/>
          </a:prstGeom>
          <a:solidFill>
            <a:srgbClr val="1A2A44"/>
          </a:solidFill>
          <a:ln w="12700">
            <a:solidFill>
              <a:srgbClr val="D4A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2519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534"/>
                </a:solidFill>
                <a:latin typeface="Calibri"/>
              </a:defRPr>
            </a:pPr>
            <a:r>
              <a:t>NYC SPILLOVER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6634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28 contacts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3035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Calibri"/>
              </a:defRPr>
            </a:pPr>
            <a:r>
              <a:t>Strategic Targets</a:t>
            </a:r>
            <a:br/>
            <a:r>
              <a:t>Food-tech VCs</a:t>
            </a:r>
            <a:br/>
            <a:r>
              <a:t>Collaborative, S2G, Lerer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4114800"/>
            <a:ext cx="3474720" cy="2286000"/>
          </a:xfrm>
          <a:prstGeom prst="roundRect">
            <a:avLst/>
          </a:prstGeom>
          <a:solidFill>
            <a:srgbClr val="1A2A44"/>
          </a:solidFill>
          <a:ln w="12700">
            <a:solidFill>
              <a:srgbClr val="D4A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42519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534"/>
                </a:solidFill>
                <a:latin typeface="Calibri"/>
              </a:defRPr>
            </a:pPr>
            <a:r>
              <a:t>SUBURBS &amp; OTHER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46634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92 contacts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53035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Calibri"/>
              </a:defRPr>
            </a:pPr>
            <a:r>
              <a:t>Supporting Markets</a:t>
            </a:r>
            <a:br/>
            <a:r>
              <a:t>Main Line, Bucks County</a:t>
            </a:r>
            <a:br/>
            <a:r>
              <a:t>Lehigh Valley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A534"/>
                </a:solidFill>
                <a:latin typeface="Calibri"/>
              </a:defRPr>
            </a:pPr>
            <a:r>
              <a:t>THE RANKING SYSTEM (1-100)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4572000" cy="27432"/>
          </a:xfrm>
          <a:prstGeom prst="rect">
            <a:avLst/>
          </a:prstGeom>
          <a:solidFill>
            <a:srgbClr val="D4A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A7CD5"/>
                </a:solidFill>
                <a:latin typeface="Calibri"/>
              </a:defRPr>
            </a:pPr>
            <a:r>
              <a:t>RANK = (Investor Potential x 0.30) + (Network Reach x 0.25) + (FOMO Multiplier x 0.20) + (Accessibility x 0.15) + (Timing x 0.10)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10972800" cy="731520"/>
          </a:xfrm>
          <a:prstGeom prst="roundRect">
            <a:avLst/>
          </a:prstGeom>
          <a:solidFill>
            <a:srgbClr val="1A2A44"/>
          </a:solidFill>
          <a:ln w="12700">
            <a:solidFill>
              <a:srgbClr val="D4A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534"/>
                </a:solidFill>
                <a:latin typeface="Calibri"/>
              </a:defRPr>
            </a:pPr>
            <a:r>
              <a:t>90-100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103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Contact THIS WEEK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103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4A534"/>
                </a:solidFill>
                <a:latin typeface="Calibri"/>
              </a:defRPr>
            </a:pPr>
            <a:r>
              <a:t>1 contacts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103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Calibri"/>
              </a:defRPr>
            </a:pPr>
            <a:r>
              <a:t>Drop everything. High-probability, high-impact.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26080"/>
            <a:ext cx="10972800" cy="731520"/>
          </a:xfrm>
          <a:prstGeom prst="roundRect">
            <a:avLst/>
          </a:prstGeom>
          <a:solidFill>
            <a:srgbClr val="1A2A44"/>
          </a:solidFill>
          <a:ln w="12700">
            <a:solidFill>
              <a:srgbClr val="D4A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0175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534"/>
                </a:solidFill>
                <a:latin typeface="Calibri"/>
              </a:defRPr>
            </a:pPr>
            <a:r>
              <a:t>70-89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017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Contact within 2 weeks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3017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4A534"/>
                </a:solidFill>
                <a:latin typeface="Calibri"/>
              </a:defRPr>
            </a:pPr>
            <a:r>
              <a:t>147 contacts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3017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Calibri"/>
              </a:defRPr>
            </a:pPr>
            <a:r>
              <a:t>Strong fits, clear path to value.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840480"/>
            <a:ext cx="10972800" cy="731520"/>
          </a:xfrm>
          <a:prstGeom prst="roundRect">
            <a:avLst/>
          </a:prstGeom>
          <a:solidFill>
            <a:srgbClr val="1A2A44"/>
          </a:solidFill>
          <a:ln w="12700">
            <a:solidFill>
              <a:srgbClr val="3A7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9319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A7CD5"/>
                </a:solidFill>
                <a:latin typeface="Calibri"/>
              </a:defRPr>
            </a:pPr>
            <a:r>
              <a:t>50-69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3931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Contact within month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931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4A534"/>
                </a:solidFill>
                <a:latin typeface="Calibri"/>
              </a:defRPr>
            </a:pPr>
            <a:r>
              <a:t>126 contacts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3931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Calibri"/>
              </a:defRPr>
            </a:pPr>
            <a:r>
              <a:t>Good fits, need some groundwork.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754880"/>
            <a:ext cx="10972800" cy="731520"/>
          </a:xfrm>
          <a:prstGeom prst="roundRect">
            <a:avLst/>
          </a:prstGeom>
          <a:solidFill>
            <a:srgbClr val="1A2A44"/>
          </a:solidFill>
          <a:ln w="12700">
            <a:solidFill>
              <a:srgbClr val="3A7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846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A7CD5"/>
                </a:solidFill>
                <a:latin typeface="Calibri"/>
              </a:defRPr>
            </a:pPr>
            <a:r>
              <a:t>30-49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4846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Month 2-3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4846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4A534"/>
                </a:solidFill>
                <a:latin typeface="Calibri"/>
              </a:defRPr>
            </a:pPr>
            <a:r>
              <a:t>35 contacts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4846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Calibri"/>
              </a:defRPr>
            </a:pPr>
            <a:r>
              <a:t>Build relationship first.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669280"/>
            <a:ext cx="10972800" cy="731520"/>
          </a:xfrm>
          <a:prstGeom prst="roundRect">
            <a:avLst/>
          </a:prstGeom>
          <a:solidFill>
            <a:srgbClr val="1A2A44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7607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88888"/>
                </a:solidFill>
                <a:latin typeface="Calibri"/>
              </a:defRPr>
            </a:pPr>
            <a:r>
              <a:t>1-29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5760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Long game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5760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4A534"/>
                </a:solidFill>
                <a:latin typeface="Calibri"/>
              </a:defRPr>
            </a:pPr>
            <a:r>
              <a:t>0 contacts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5760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Calibri"/>
              </a:defRPr>
            </a:pPr>
            <a:r>
              <a:t>Track, engage on social, wait.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534"/>
                </a:solidFill>
                <a:latin typeface="Calibri"/>
              </a:defRPr>
            </a:pPr>
            <a:r>
              <a:t>CHAIN: RESTAURATEUR GATEWAY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4572000" cy="27432"/>
          </a:xfrm>
          <a:prstGeom prst="rect">
            <a:avLst/>
          </a:prstGeom>
          <a:solidFill>
            <a:srgbClr val="D4A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7315200" cy="640080"/>
          </a:xfrm>
          <a:prstGeom prst="roundRect">
            <a:avLst/>
          </a:prstGeom>
          <a:solidFill>
            <a:srgbClr val="1A2A44"/>
          </a:solidFill>
          <a:ln w="12700">
            <a:solidFill>
              <a:srgbClr val="D4A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Step 1: Give food blogger exclusive beta access</a:t>
            </a:r>
          </a:p>
        </p:txBody>
      </p:sp>
      <p:sp>
        <p:nvSpPr>
          <p:cNvPr id="6" name="Down Arrow 5"/>
          <p:cNvSpPr/>
          <p:nvPr/>
        </p:nvSpPr>
        <p:spPr>
          <a:xfrm>
            <a:off x="4114800" y="1828800"/>
            <a:ext cx="274320" cy="137160"/>
          </a:xfrm>
          <a:prstGeom prst="downArrow">
            <a:avLst/>
          </a:prstGeom>
          <a:solidFill>
            <a:srgbClr val="D4A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965960"/>
            <a:ext cx="7315200" cy="640080"/>
          </a:xfrm>
          <a:prstGeom prst="roundRect">
            <a:avLst/>
          </a:prstGeom>
          <a:solidFill>
            <a:srgbClr val="1A2A44"/>
          </a:solidFill>
          <a:ln w="12700">
            <a:solidFill>
              <a:srgbClr val="D4A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Step 2: Blogger posts dish scores at popular restaurant</a:t>
            </a:r>
          </a:p>
        </p:txBody>
      </p:sp>
      <p:sp>
        <p:nvSpPr>
          <p:cNvPr id="9" name="Down Arrow 8"/>
          <p:cNvSpPr/>
          <p:nvPr/>
        </p:nvSpPr>
        <p:spPr>
          <a:xfrm>
            <a:off x="4114800" y="2606039"/>
            <a:ext cx="274320" cy="137160"/>
          </a:xfrm>
          <a:prstGeom prst="downArrow">
            <a:avLst/>
          </a:prstGeom>
          <a:solidFill>
            <a:srgbClr val="D4A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2743200"/>
            <a:ext cx="7315200" cy="640080"/>
          </a:xfrm>
          <a:prstGeom prst="roundRect">
            <a:avLst/>
          </a:prstGeom>
          <a:solidFill>
            <a:srgbClr val="1A2A44"/>
          </a:solidFill>
          <a:ln w="12700">
            <a:solidFill>
              <a:srgbClr val="D4A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83464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Step 3: Restaurant owner sees coverage, gets curious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4114800" y="3383280"/>
            <a:ext cx="274320" cy="137160"/>
          </a:xfrm>
          <a:prstGeom prst="downArrow">
            <a:avLst/>
          </a:prstGeom>
          <a:solidFill>
            <a:srgbClr val="D4A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3520439"/>
            <a:ext cx="7315200" cy="640080"/>
          </a:xfrm>
          <a:prstGeom prst="roundRect">
            <a:avLst/>
          </a:prstGeom>
          <a:solidFill>
            <a:srgbClr val="1A2A44"/>
          </a:solidFill>
          <a:ln w="12700">
            <a:solidFill>
              <a:srgbClr val="3A7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611879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Step 4: Ali reaches out: 'Your khao soi scored 94/100'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4114800" y="4160520"/>
            <a:ext cx="274320" cy="137160"/>
          </a:xfrm>
          <a:prstGeom prst="downArrow">
            <a:avLst/>
          </a:prstGeom>
          <a:solidFill>
            <a:srgbClr val="D4A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4297680"/>
            <a:ext cx="7315200" cy="640080"/>
          </a:xfrm>
          <a:prstGeom prst="roundRect">
            <a:avLst/>
          </a:prstGeom>
          <a:solidFill>
            <a:srgbClr val="1A2A44"/>
          </a:solidFill>
          <a:ln w="12700">
            <a:solidFill>
              <a:srgbClr val="3A7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38912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Step 5: Restaurateur becomes champion, tells investor friends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4114800" y="4937760"/>
            <a:ext cx="274320" cy="137160"/>
          </a:xfrm>
          <a:prstGeom prst="downArrow">
            <a:avLst/>
          </a:prstGeom>
          <a:solidFill>
            <a:srgbClr val="D4A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7200" y="5074920"/>
            <a:ext cx="7315200" cy="640080"/>
          </a:xfrm>
          <a:prstGeom prst="roundRect">
            <a:avLst/>
          </a:prstGeom>
          <a:solidFill>
            <a:srgbClr val="1A2A44"/>
          </a:solidFill>
          <a:ln w="12700">
            <a:solidFill>
              <a:srgbClr val="3A7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166359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Step 6: Investor hears from TRUSTED source, takes Ali's call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137160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E8"/>
                </a:solidFill>
                <a:latin typeface="Calibri"/>
              </a:defRPr>
            </a:pPr>
            <a:r>
              <a:t>Blogger &gt; Restaurant &gt; Investor</a:t>
            </a:r>
            <a:br/>
            <a:r>
              <a:t>Builds organic social proof that pulls investors 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534"/>
                </a:solidFill>
                <a:latin typeface="Calibri"/>
              </a:defRPr>
            </a:pPr>
            <a:r>
              <a:t>CHAIN: FOMO CASCADE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4572000" cy="27432"/>
          </a:xfrm>
          <a:prstGeom prst="rect">
            <a:avLst/>
          </a:prstGeom>
          <a:solidFill>
            <a:srgbClr val="D4A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7315200" cy="640080"/>
          </a:xfrm>
          <a:prstGeom prst="roundRect">
            <a:avLst/>
          </a:prstGeom>
          <a:solidFill>
            <a:srgbClr val="1A2A44"/>
          </a:solidFill>
          <a:ln w="12700">
            <a:solidFill>
              <a:srgbClr val="D4A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Step 1: Seed 5-10 influencers with exclusive beta access</a:t>
            </a:r>
          </a:p>
        </p:txBody>
      </p:sp>
      <p:sp>
        <p:nvSpPr>
          <p:cNvPr id="6" name="Down Arrow 5"/>
          <p:cNvSpPr/>
          <p:nvPr/>
        </p:nvSpPr>
        <p:spPr>
          <a:xfrm>
            <a:off x="4114800" y="1828800"/>
            <a:ext cx="274320" cy="137160"/>
          </a:xfrm>
          <a:prstGeom prst="downArrow">
            <a:avLst/>
          </a:prstGeom>
          <a:solidFill>
            <a:srgbClr val="D4A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965960"/>
            <a:ext cx="7315200" cy="640080"/>
          </a:xfrm>
          <a:prstGeom prst="roundRect">
            <a:avLst/>
          </a:prstGeom>
          <a:solidFill>
            <a:srgbClr val="1A2A44"/>
          </a:solidFill>
          <a:ln w="12700">
            <a:solidFill>
              <a:srgbClr val="D4A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Step 2: Coordinated posts in 48-hour window</a:t>
            </a:r>
          </a:p>
        </p:txBody>
      </p:sp>
      <p:sp>
        <p:nvSpPr>
          <p:cNvPr id="9" name="Down Arrow 8"/>
          <p:cNvSpPr/>
          <p:nvPr/>
        </p:nvSpPr>
        <p:spPr>
          <a:xfrm>
            <a:off x="4114800" y="2606039"/>
            <a:ext cx="274320" cy="137160"/>
          </a:xfrm>
          <a:prstGeom prst="downArrow">
            <a:avLst/>
          </a:prstGeom>
          <a:solidFill>
            <a:srgbClr val="D4A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2743200"/>
            <a:ext cx="7315200" cy="640080"/>
          </a:xfrm>
          <a:prstGeom prst="roundRect">
            <a:avLst/>
          </a:prstGeom>
          <a:solidFill>
            <a:srgbClr val="1A2A44"/>
          </a:solidFill>
          <a:ln w="12700">
            <a:solidFill>
              <a:srgbClr val="D4A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83464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Step 3: 'Everyone's talking about this' perception created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4114800" y="3383280"/>
            <a:ext cx="274320" cy="137160"/>
          </a:xfrm>
          <a:prstGeom prst="downArrow">
            <a:avLst/>
          </a:prstGeom>
          <a:solidFill>
            <a:srgbClr val="D4A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3520439"/>
            <a:ext cx="7315200" cy="640080"/>
          </a:xfrm>
          <a:prstGeom prst="roundRect">
            <a:avLst/>
          </a:prstGeom>
          <a:solidFill>
            <a:srgbClr val="1A2A44"/>
          </a:solidFill>
          <a:ln w="12700">
            <a:solidFill>
              <a:srgbClr val="3A7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611879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Step 4: Media picks up the trend (Eater, PhillyMag)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4114800" y="4160520"/>
            <a:ext cx="274320" cy="137160"/>
          </a:xfrm>
          <a:prstGeom prst="downArrow">
            <a:avLst/>
          </a:prstGeom>
          <a:solidFill>
            <a:srgbClr val="D4A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4297680"/>
            <a:ext cx="7315200" cy="640080"/>
          </a:xfrm>
          <a:prstGeom prst="roundRect">
            <a:avLst/>
          </a:prstGeom>
          <a:solidFill>
            <a:srgbClr val="1A2A44"/>
          </a:solidFill>
          <a:ln w="12700">
            <a:solidFill>
              <a:srgbClr val="3A7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38912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Step 5: Restaurateurs scramble to get dishes rated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4114800" y="4937760"/>
            <a:ext cx="274320" cy="137160"/>
          </a:xfrm>
          <a:prstGeom prst="downArrow">
            <a:avLst/>
          </a:prstGeom>
          <a:solidFill>
            <a:srgbClr val="D4A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7200" y="5074920"/>
            <a:ext cx="7315200" cy="640080"/>
          </a:xfrm>
          <a:prstGeom prst="roundRect">
            <a:avLst/>
          </a:prstGeom>
          <a:solidFill>
            <a:srgbClr val="1A2A44"/>
          </a:solidFill>
          <a:ln w="12700">
            <a:solidFill>
              <a:srgbClr val="3A7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166359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Step 6: Investors see MARKET PULL, not push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137160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E8"/>
                </a:solidFill>
                <a:latin typeface="Calibri"/>
              </a:defRPr>
            </a:pPr>
            <a:r>
              <a:t>Perception of unstoppable momentum.</a:t>
            </a:r>
            <a:br/>
            <a:r>
              <a:t>Investors arrive pre-warmed and excited.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534"/>
                </a:solidFill>
                <a:latin typeface="Calibri"/>
              </a:defRPr>
            </a:pPr>
            <a:r>
              <a:t>CHAIN: UNIVERSITY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4572000" cy="27432"/>
          </a:xfrm>
          <a:prstGeom prst="rect">
            <a:avLst/>
          </a:prstGeom>
          <a:solidFill>
            <a:srgbClr val="D4A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7315200" cy="640080"/>
          </a:xfrm>
          <a:prstGeom prst="roundRect">
            <a:avLst/>
          </a:prstGeom>
          <a:solidFill>
            <a:srgbClr val="1A2A44"/>
          </a:solidFill>
          <a:ln w="12700">
            <a:solidFill>
              <a:srgbClr val="D4A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Step 1: Connect with Penn Food Innovation Lab faculty</a:t>
            </a:r>
          </a:p>
        </p:txBody>
      </p:sp>
      <p:sp>
        <p:nvSpPr>
          <p:cNvPr id="6" name="Down Arrow 5"/>
          <p:cNvSpPr/>
          <p:nvPr/>
        </p:nvSpPr>
        <p:spPr>
          <a:xfrm>
            <a:off x="4114800" y="1828800"/>
            <a:ext cx="274320" cy="137160"/>
          </a:xfrm>
          <a:prstGeom prst="downArrow">
            <a:avLst/>
          </a:prstGeom>
          <a:solidFill>
            <a:srgbClr val="D4A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965960"/>
            <a:ext cx="7315200" cy="640080"/>
          </a:xfrm>
          <a:prstGeom prst="roundRect">
            <a:avLst/>
          </a:prstGeom>
          <a:solidFill>
            <a:srgbClr val="1A2A44"/>
          </a:solidFill>
          <a:ln w="12700">
            <a:solidFill>
              <a:srgbClr val="D4A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Step 2: Guest lecture / demo for students</a:t>
            </a:r>
          </a:p>
        </p:txBody>
      </p:sp>
      <p:sp>
        <p:nvSpPr>
          <p:cNvPr id="9" name="Down Arrow 8"/>
          <p:cNvSpPr/>
          <p:nvPr/>
        </p:nvSpPr>
        <p:spPr>
          <a:xfrm>
            <a:off x="4114800" y="2606039"/>
            <a:ext cx="274320" cy="137160"/>
          </a:xfrm>
          <a:prstGeom prst="downArrow">
            <a:avLst/>
          </a:prstGeom>
          <a:solidFill>
            <a:srgbClr val="D4A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2743200"/>
            <a:ext cx="7315200" cy="640080"/>
          </a:xfrm>
          <a:prstGeom prst="roundRect">
            <a:avLst/>
          </a:prstGeom>
          <a:solidFill>
            <a:srgbClr val="1A2A44"/>
          </a:solidFill>
          <a:ln w="12700">
            <a:solidFill>
              <a:srgbClr val="D4A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83464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Step 3: Students become beta testers (hundreds of food-obsessed kids)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4114800" y="3383280"/>
            <a:ext cx="274320" cy="137160"/>
          </a:xfrm>
          <a:prstGeom prst="downArrow">
            <a:avLst/>
          </a:prstGeom>
          <a:solidFill>
            <a:srgbClr val="D4A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3520439"/>
            <a:ext cx="7315200" cy="640080"/>
          </a:xfrm>
          <a:prstGeom prst="roundRect">
            <a:avLst/>
          </a:prstGeom>
          <a:solidFill>
            <a:srgbClr val="1A2A44"/>
          </a:solidFill>
          <a:ln w="12700">
            <a:solidFill>
              <a:srgbClr val="3A7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611879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Step 4: Usage data spike + campus buzz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4114800" y="4160520"/>
            <a:ext cx="274320" cy="137160"/>
          </a:xfrm>
          <a:prstGeom prst="downArrow">
            <a:avLst/>
          </a:prstGeom>
          <a:solidFill>
            <a:srgbClr val="D4A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4297680"/>
            <a:ext cx="7315200" cy="640080"/>
          </a:xfrm>
          <a:prstGeom prst="roundRect">
            <a:avLst/>
          </a:prstGeom>
          <a:solidFill>
            <a:srgbClr val="1A2A44"/>
          </a:solidFill>
          <a:ln w="12700">
            <a:solidFill>
              <a:srgbClr val="3A7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38912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Step 5: Faculty intro to Wharton entrepreneurship professors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4114800" y="4937760"/>
            <a:ext cx="274320" cy="137160"/>
          </a:xfrm>
          <a:prstGeom prst="downArrow">
            <a:avLst/>
          </a:prstGeom>
          <a:solidFill>
            <a:srgbClr val="D4A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7200" y="5074920"/>
            <a:ext cx="7315200" cy="640080"/>
          </a:xfrm>
          <a:prstGeom prst="roundRect">
            <a:avLst/>
          </a:prstGeom>
          <a:solidFill>
            <a:srgbClr val="1A2A44"/>
          </a:solidFill>
          <a:ln w="12700">
            <a:solidFill>
              <a:srgbClr val="3A7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166359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Step 6: Penn alumni angel network invitation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137160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E8"/>
                </a:solidFill>
                <a:latin typeface="Calibri"/>
              </a:defRPr>
            </a:pPr>
            <a:r>
              <a:t>Academic credibility &gt; Student traction &gt; Investor intros.</a:t>
            </a:r>
            <a:br/>
            <a:r>
              <a:t>Ali's UPenn connection is the entry point.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534"/>
                </a:solidFill>
                <a:latin typeface="Calibri"/>
              </a:defRPr>
            </a:pPr>
            <a:r>
              <a:t>CHAIN: NJ-TO-NYC BRIDGE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4572000" cy="27432"/>
          </a:xfrm>
          <a:prstGeom prst="rect">
            <a:avLst/>
          </a:prstGeom>
          <a:solidFill>
            <a:srgbClr val="D4A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7315200" cy="640080"/>
          </a:xfrm>
          <a:prstGeom prst="roundRect">
            <a:avLst/>
          </a:prstGeom>
          <a:solidFill>
            <a:srgbClr val="1A2A44"/>
          </a:solidFill>
          <a:ln w="12700">
            <a:solidFill>
              <a:srgbClr val="D4A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Step 1: Connect with Princeton Entrepreneurship Council</a:t>
            </a:r>
          </a:p>
        </p:txBody>
      </p:sp>
      <p:sp>
        <p:nvSpPr>
          <p:cNvPr id="6" name="Down Arrow 5"/>
          <p:cNvSpPr/>
          <p:nvPr/>
        </p:nvSpPr>
        <p:spPr>
          <a:xfrm>
            <a:off x="4114800" y="1828800"/>
            <a:ext cx="274320" cy="137160"/>
          </a:xfrm>
          <a:prstGeom prst="downArrow">
            <a:avLst/>
          </a:prstGeom>
          <a:solidFill>
            <a:srgbClr val="D4A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965960"/>
            <a:ext cx="7315200" cy="640080"/>
          </a:xfrm>
          <a:prstGeom prst="roundRect">
            <a:avLst/>
          </a:prstGeom>
          <a:solidFill>
            <a:srgbClr val="1A2A44"/>
          </a:solidFill>
          <a:ln w="12700">
            <a:solidFill>
              <a:srgbClr val="D4A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Step 2: Demo at monthly meetup or pitch competition</a:t>
            </a:r>
          </a:p>
        </p:txBody>
      </p:sp>
      <p:sp>
        <p:nvSpPr>
          <p:cNvPr id="9" name="Down Arrow 8"/>
          <p:cNvSpPr/>
          <p:nvPr/>
        </p:nvSpPr>
        <p:spPr>
          <a:xfrm>
            <a:off x="4114800" y="2606039"/>
            <a:ext cx="274320" cy="137160"/>
          </a:xfrm>
          <a:prstGeom prst="downArrow">
            <a:avLst/>
          </a:prstGeom>
          <a:solidFill>
            <a:srgbClr val="D4A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2743200"/>
            <a:ext cx="7315200" cy="640080"/>
          </a:xfrm>
          <a:prstGeom prst="roundRect">
            <a:avLst/>
          </a:prstGeom>
          <a:solidFill>
            <a:srgbClr val="1A2A44"/>
          </a:solidFill>
          <a:ln w="12700">
            <a:solidFill>
              <a:srgbClr val="D4A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83464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Step 3: Princeton-area angels show interest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4114800" y="3383280"/>
            <a:ext cx="274320" cy="137160"/>
          </a:xfrm>
          <a:prstGeom prst="downArrow">
            <a:avLst/>
          </a:prstGeom>
          <a:solidFill>
            <a:srgbClr val="D4A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3520439"/>
            <a:ext cx="7315200" cy="640080"/>
          </a:xfrm>
          <a:prstGeom prst="roundRect">
            <a:avLst/>
          </a:prstGeom>
          <a:solidFill>
            <a:srgbClr val="1A2A44"/>
          </a:solidFill>
          <a:ln w="12700">
            <a:solidFill>
              <a:srgbClr val="3A7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611879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Step 4: NJ angels co-invest with NYC-adjacent funds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4114800" y="4160520"/>
            <a:ext cx="274320" cy="137160"/>
          </a:xfrm>
          <a:prstGeom prst="downArrow">
            <a:avLst/>
          </a:prstGeom>
          <a:solidFill>
            <a:srgbClr val="D4A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4297680"/>
            <a:ext cx="7315200" cy="640080"/>
          </a:xfrm>
          <a:prstGeom prst="roundRect">
            <a:avLst/>
          </a:prstGeom>
          <a:solidFill>
            <a:srgbClr val="1A2A44"/>
          </a:solidFill>
          <a:ln w="12700">
            <a:solidFill>
              <a:srgbClr val="3A7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38912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Step 5: NYC VC sees tri-state traction, not just 'a Philly app'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4114800" y="4937760"/>
            <a:ext cx="274320" cy="137160"/>
          </a:xfrm>
          <a:prstGeom prst="downArrow">
            <a:avLst/>
          </a:prstGeom>
          <a:solidFill>
            <a:srgbClr val="D4A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7200" y="5074920"/>
            <a:ext cx="7315200" cy="640080"/>
          </a:xfrm>
          <a:prstGeom prst="roundRect">
            <a:avLst/>
          </a:prstGeom>
          <a:solidFill>
            <a:srgbClr val="1A2A44"/>
          </a:solidFill>
          <a:ln w="12700">
            <a:solidFill>
              <a:srgbClr val="3A7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166359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Step 6: Collaborative Fund, Lerer Hippeau warm intro via NJ bridge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137160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E8"/>
                </a:solidFill>
                <a:latin typeface="Calibri"/>
              </a:defRPr>
            </a:pPr>
            <a:r>
              <a:t>Use NJ ecosystem to access NYC capital.</a:t>
            </a:r>
            <a:br/>
            <a:r>
              <a:t>Show tri-state traction, not just Philadelphia.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A534"/>
                </a:solidFill>
                <a:latin typeface="Calibri"/>
              </a:defRPr>
            </a:pPr>
            <a:r>
              <a:t>FOMO PLAYBOOK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4572000" cy="27432"/>
          </a:xfrm>
          <a:prstGeom prst="rect">
            <a:avLst/>
          </a:prstGeom>
          <a:solidFill>
            <a:srgbClr val="D4A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474720" cy="5029200"/>
          </a:xfrm>
          <a:prstGeom prst="roundRect">
            <a:avLst/>
          </a:prstGeom>
          <a:solidFill>
            <a:srgbClr val="1A2A44"/>
          </a:solidFill>
          <a:ln w="19050">
            <a:solidFill>
              <a:srgbClr val="D4A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4A534"/>
                </a:solidFill>
                <a:latin typeface="Calibri"/>
              </a:defRPr>
            </a:pPr>
            <a:r>
              <a:t>SCARCITY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"Only 50 spots in founding cohort"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"Founding Investor — only 5 seats"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"We're meeting with 10 investors max"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12064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"Round closing by [date]"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188720"/>
            <a:ext cx="3474720" cy="5029200"/>
          </a:xfrm>
          <a:prstGeom prst="roundRect">
            <a:avLst/>
          </a:prstGeom>
          <a:solidFill>
            <a:srgbClr val="1A2A44"/>
          </a:solidFill>
          <a:ln w="19050">
            <a:solidFill>
              <a:srgbClr val="D4A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3716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4A534"/>
                </a:solidFill>
                <a:latin typeface="Calibri"/>
              </a:defRPr>
            </a:pPr>
            <a:r>
              <a:t>SOCIAL PROOF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10312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"Coordinated influencer drop (48hr window)"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10896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"As Seen In press momentum"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11480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"Restaurateur case studies"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512064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"App Store presence as credibility"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188720"/>
            <a:ext cx="3474720" cy="5029200"/>
          </a:xfrm>
          <a:prstGeom prst="roundRect">
            <a:avLst/>
          </a:prstGeom>
          <a:solidFill>
            <a:srgbClr val="1A2A44"/>
          </a:solidFill>
          <a:ln w="19050">
            <a:solidFill>
              <a:srgbClr val="D4A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3716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4A534"/>
                </a:solidFill>
                <a:latin typeface="Calibri"/>
              </a:defRPr>
            </a:pPr>
            <a:r>
              <a:t>EXCLUSIVITY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10312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"Invite-only beta access"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10896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"Pre-patent NDA mystique"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411480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"Chosen / specifically selected language"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512064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"Embargo offers to media"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A534"/>
                </a:solidFill>
                <a:latin typeface="Calibri"/>
              </a:defRPr>
            </a:pPr>
            <a:r>
              <a:t>PSYCHOLOGY-DRIVEN OUTREACH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4572000" cy="27432"/>
          </a:xfrm>
          <a:prstGeom prst="rect">
            <a:avLst/>
          </a:prstGeom>
          <a:solidFill>
            <a:srgbClr val="D4A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Every message engineered using Cialdini's 6 Principles of Influence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3474720" cy="2011680"/>
          </a:xfrm>
          <a:prstGeom prst="roundRect">
            <a:avLst/>
          </a:prstGeom>
          <a:solidFill>
            <a:srgbClr val="1A2A44"/>
          </a:solidFill>
          <a:ln w="12700">
            <a:solidFill>
              <a:srgbClr val="D4A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4A534"/>
                </a:solidFill>
                <a:latin typeface="Calibri"/>
              </a:defRPr>
            </a:pPr>
            <a:r>
              <a:t>AUTHORITY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Lead with UPenn, patent,</a:t>
            </a:r>
            <a:br/>
            <a:r>
              <a:t>Hyatt/Citi/AmEx credentials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828800"/>
            <a:ext cx="3474720" cy="2011680"/>
          </a:xfrm>
          <a:prstGeom prst="roundRect">
            <a:avLst/>
          </a:prstGeom>
          <a:solidFill>
            <a:srgbClr val="1A2A44"/>
          </a:solidFill>
          <a:ln w="12700">
            <a:solidFill>
              <a:srgbClr val="D4A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2011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4A534"/>
                </a:solidFill>
                <a:latin typeface="Calibri"/>
              </a:defRPr>
            </a:pPr>
            <a:r>
              <a:t>SOCIAL PROOF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56032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"Other investors are</a:t>
            </a:r>
            <a:br/>
            <a:r>
              <a:t>already in conversations"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828800"/>
            <a:ext cx="3474720" cy="2011680"/>
          </a:xfrm>
          <a:prstGeom prst="roundRect">
            <a:avLst/>
          </a:prstGeom>
          <a:solidFill>
            <a:srgbClr val="1A2A44"/>
          </a:solidFill>
          <a:ln w="12700">
            <a:solidFill>
              <a:srgbClr val="D4A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011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4A534"/>
                </a:solidFill>
                <a:latin typeface="Calibri"/>
              </a:defRPr>
            </a:pPr>
            <a:r>
              <a:t>UNITY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56032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"Fellow Philadelphian</a:t>
            </a:r>
            <a:br/>
            <a:r>
              <a:t>building for our city"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14800"/>
            <a:ext cx="3474720" cy="2011680"/>
          </a:xfrm>
          <a:prstGeom prst="roundRect">
            <a:avLst/>
          </a:prstGeom>
          <a:solidFill>
            <a:srgbClr val="1A2A44"/>
          </a:solidFill>
          <a:ln w="12700">
            <a:solidFill>
              <a:srgbClr val="D4A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297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4A534"/>
                </a:solidFill>
                <a:latin typeface="Calibri"/>
              </a:defRPr>
            </a:pPr>
            <a:r>
              <a:t>SCARCITY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84632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"Limited beta / limited</a:t>
            </a:r>
            <a:br/>
            <a:r>
              <a:t>investor seats"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4114800"/>
            <a:ext cx="3474720" cy="2011680"/>
          </a:xfrm>
          <a:prstGeom prst="roundRect">
            <a:avLst/>
          </a:prstGeom>
          <a:solidFill>
            <a:srgbClr val="1A2A44"/>
          </a:solidFill>
          <a:ln w="12700">
            <a:solidFill>
              <a:srgbClr val="D4A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4297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4A534"/>
                </a:solidFill>
                <a:latin typeface="Calibri"/>
              </a:defRPr>
            </a:pPr>
            <a:r>
              <a:t>RECIPROCITY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84632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Offer dish data/insights</a:t>
            </a:r>
            <a:br/>
            <a:r>
              <a:t>before asking for anything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4114800"/>
            <a:ext cx="3474720" cy="2011680"/>
          </a:xfrm>
          <a:prstGeom prst="roundRect">
            <a:avLst/>
          </a:prstGeom>
          <a:solidFill>
            <a:srgbClr val="1A2A44"/>
          </a:solidFill>
          <a:ln w="12700">
            <a:solidFill>
              <a:srgbClr val="D4A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4297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4A534"/>
                </a:solidFill>
                <a:latin typeface="Calibri"/>
              </a:defRPr>
            </a:pPr>
            <a:r>
              <a:t>COMMITMENT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84632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"You've said you want to</a:t>
            </a:r>
            <a:br/>
            <a:r>
              <a:t>back X — here's X"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A534"/>
                </a:solidFill>
                <a:latin typeface="Calibri"/>
              </a:defRPr>
            </a:pPr>
            <a:r>
              <a:t>TIER 1 PRIORITY CONTACTS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4572000" cy="27432"/>
          </a:xfrm>
          <a:prstGeom prst="rect">
            <a:avLst/>
          </a:prstGeom>
          <a:solidFill>
            <a:srgbClr val="D4A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A534"/>
                </a:solidFill>
                <a:latin typeface="Calibri"/>
              </a:defRPr>
            </a:pPr>
            <a:r>
              <a:t>RANK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097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A534"/>
                </a:solidFill>
                <a:latin typeface="Calibri"/>
              </a:defRPr>
            </a:pPr>
            <a:r>
              <a:t>NAME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097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A534"/>
                </a:solidFill>
                <a:latin typeface="Calibri"/>
              </a:defRPr>
            </a:pPr>
            <a:r>
              <a:t>ORGANIZATION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097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A534"/>
                </a:solidFill>
                <a:latin typeface="Calibri"/>
              </a:defRPr>
            </a:pPr>
            <a:r>
              <a:t>SEGMENT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097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A534"/>
                </a:solidFill>
                <a:latin typeface="Calibri"/>
              </a:defRPr>
            </a:pPr>
            <a:r>
              <a:t>CHAIN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0972800" cy="301752"/>
          </a:xfrm>
          <a:prstGeom prst="rect">
            <a:avLst/>
          </a:prstGeom>
          <a:solidFill>
            <a:srgbClr val="1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A534"/>
                </a:solidFill>
                <a:latin typeface="Calibri"/>
              </a:defRPr>
            </a:pPr>
            <a:r>
              <a:t>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463040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Josh Kopelman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463040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Calibri"/>
              </a:defRPr>
            </a:pPr>
            <a:r>
              <a:t>First Round Capital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1463040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A7CD5"/>
                </a:solidFill>
                <a:latin typeface="Calibri"/>
              </a:defRPr>
            </a:pPr>
            <a:r>
              <a:t>VC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1463040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Calibri"/>
              </a:defRPr>
            </a:pPr>
            <a:r>
              <a:t>FOMO Cascade + NJ-to-NYC Bridg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783080"/>
            <a:ext cx="10972800" cy="301752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783080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A534"/>
                </a:solidFill>
                <a:latin typeface="Calibri"/>
              </a:defRPr>
            </a:pPr>
            <a:r>
              <a:t>89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1783080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Isabelle Kent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1783080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Calibri"/>
              </a:defRPr>
            </a:pPr>
            <a:r>
              <a:t>Startup Leaders (formerly Philly 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1783080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A7CD5"/>
                </a:solidFill>
                <a:latin typeface="Calibri"/>
              </a:defRPr>
            </a:pPr>
            <a:r>
              <a:t>Founder-Connector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1783080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Calibri"/>
              </a:defRPr>
            </a:pPr>
            <a:r>
              <a:t>Connector Express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103120"/>
            <a:ext cx="10972800" cy="301752"/>
          </a:xfrm>
          <a:prstGeom prst="rect">
            <a:avLst/>
          </a:prstGeom>
          <a:solidFill>
            <a:srgbClr val="1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103120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A534"/>
                </a:solidFill>
                <a:latin typeface="Calibri"/>
              </a:defRPr>
            </a:pPr>
            <a:r>
              <a:t>89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2103120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Danae Mobley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2103120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Calibri"/>
              </a:defRPr>
            </a:pPr>
            <a:r>
              <a:t>1Philadelphia (1PHL) / Coded by: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2103120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A7CD5"/>
                </a:solidFill>
                <a:latin typeface="Calibri"/>
              </a:defRPr>
            </a:pPr>
            <a:r>
              <a:t>Founder-Connector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2103120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Calibri"/>
              </a:defRPr>
            </a:pPr>
            <a:r>
              <a:t>Connector Express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2423160"/>
            <a:ext cx="10972800" cy="301752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2423160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A534"/>
                </a:solidFill>
                <a:latin typeface="Calibri"/>
              </a:defRPr>
            </a:pPr>
            <a:r>
              <a:t>89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2423160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Gabriel Weinberg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2423160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Calibri"/>
              </a:defRPr>
            </a:pPr>
            <a:r>
              <a:t>DuckDuckGo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423160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A7CD5"/>
                </a:solidFill>
                <a:latin typeface="Calibri"/>
              </a:defRPr>
            </a:pPr>
            <a:r>
              <a:t>Founder-Connector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2423160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Calibri"/>
              </a:defRPr>
            </a:pPr>
            <a:r>
              <a:t>Connector Express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2743200"/>
            <a:ext cx="10972800" cy="301752"/>
          </a:xfrm>
          <a:prstGeom prst="rect">
            <a:avLst/>
          </a:prstGeom>
          <a:solidFill>
            <a:srgbClr val="1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2743200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A534"/>
                </a:solidFill>
                <a:latin typeface="Calibri"/>
              </a:defRPr>
            </a:pPr>
            <a:r>
              <a:t>89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2743200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Chris Stanchak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2743200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Calibri"/>
              </a:defRPr>
            </a:pPr>
            <a:r>
              <a:t>Loveseat / StanForce Labs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2743200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A7CD5"/>
                </a:solidFill>
                <a:latin typeface="Calibri"/>
              </a:defRPr>
            </a:pPr>
            <a:r>
              <a:t>Founder-Connector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2743200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Calibri"/>
              </a:defRPr>
            </a:pPr>
            <a:r>
              <a:t>Connector Express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3063240"/>
            <a:ext cx="10972800" cy="301752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3063240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A534"/>
                </a:solidFill>
                <a:latin typeface="Calibri"/>
              </a:defRPr>
            </a:pPr>
            <a:r>
              <a:t>89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3063240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David Cabello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0" y="3063240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Calibri"/>
              </a:defRPr>
            </a:pPr>
            <a:r>
              <a:t>Black and Mobile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3063240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A7CD5"/>
                </a:solidFill>
                <a:latin typeface="Calibri"/>
              </a:defRPr>
            </a:pPr>
            <a:r>
              <a:t>Founder-Connector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0" y="3063240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Calibri"/>
              </a:defRPr>
            </a:pPr>
            <a:r>
              <a:t>Connector Express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3383279"/>
            <a:ext cx="10972800" cy="301752"/>
          </a:xfrm>
          <a:prstGeom prst="rect">
            <a:avLst/>
          </a:prstGeom>
          <a:solidFill>
            <a:srgbClr val="1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3383279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A534"/>
                </a:solidFill>
                <a:latin typeface="Calibri"/>
              </a:defRPr>
            </a:pPr>
            <a:r>
              <a:t>89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71600" y="3383279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Nick Bayer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0" y="3383279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Calibri"/>
              </a:defRPr>
            </a:pPr>
            <a:r>
              <a:t>Saxbys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0" y="3383279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A7CD5"/>
                </a:solidFill>
                <a:latin typeface="Calibri"/>
              </a:defRPr>
            </a:pPr>
            <a:r>
              <a:t>Founder-Connector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0" y="3383279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Calibri"/>
              </a:defRPr>
            </a:pPr>
            <a:r>
              <a:t>Connector Express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3703320"/>
            <a:ext cx="10972800" cy="301752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3703320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A534"/>
                </a:solidFill>
                <a:latin typeface="Calibri"/>
              </a:defRPr>
            </a:pPr>
            <a:r>
              <a:t>87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371600" y="3703320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Wayne Kimmel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0" y="3703320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Calibri"/>
              </a:defRPr>
            </a:pPr>
            <a:r>
              <a:t>SeventySix Capital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58000" y="3703320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A7CD5"/>
                </a:solidFill>
                <a:latin typeface="Calibri"/>
              </a:defRPr>
            </a:pPr>
            <a:r>
              <a:t>VC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86800" y="3703320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Calibri"/>
              </a:defRPr>
            </a:pPr>
            <a:r>
              <a:t>FOMO Cascade + NJ-to-NYC Bridg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4023360"/>
            <a:ext cx="10972800" cy="301752"/>
          </a:xfrm>
          <a:prstGeom prst="rect">
            <a:avLst/>
          </a:prstGeom>
          <a:solidFill>
            <a:srgbClr val="1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4023360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A534"/>
                </a:solidFill>
                <a:latin typeface="Calibri"/>
              </a:defRPr>
            </a:pPr>
            <a:r>
              <a:t>87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371600" y="4023360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Marc Lore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14800" y="4023360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Calibri"/>
              </a:defRPr>
            </a:pPr>
            <a:r>
              <a:t>Wonder Group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58000" y="4023360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A7CD5"/>
                </a:solidFill>
                <a:latin typeface="Calibri"/>
              </a:defRPr>
            </a:pPr>
            <a:r>
              <a:t>Founder-Connector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686800" y="4023360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Calibri"/>
              </a:defRPr>
            </a:pPr>
            <a:r>
              <a:t>Connector Express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4343400"/>
            <a:ext cx="10972800" cy="301752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7200" y="4343400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A534"/>
                </a:solidFill>
                <a:latin typeface="Calibri"/>
              </a:defRPr>
            </a:pPr>
            <a:r>
              <a:t>86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71600" y="4343400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John Moore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114800" y="4343400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Calibri"/>
              </a:defRPr>
            </a:pPr>
            <a:r>
              <a:t>ImpactPHL / Investors Circle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0" y="4343400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A7CD5"/>
                </a:solidFill>
                <a:latin typeface="Calibri"/>
              </a:defRPr>
            </a:pPr>
            <a:r>
              <a:t>Angel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686800" y="4343400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Calibri"/>
              </a:defRPr>
            </a:pPr>
            <a:r>
              <a:t>Connector Express + FOMO Casca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7200" y="4663440"/>
            <a:ext cx="10972800" cy="301752"/>
          </a:xfrm>
          <a:prstGeom prst="rect">
            <a:avLst/>
          </a:prstGeom>
          <a:solidFill>
            <a:srgbClr val="1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57200" y="4663440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A534"/>
                </a:solidFill>
                <a:latin typeface="Calibri"/>
              </a:defRPr>
            </a:pPr>
            <a:r>
              <a:t>86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371600" y="4663440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Anthony Edwards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114800" y="4663440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Calibri"/>
              </a:defRPr>
            </a:pPr>
            <a:r>
              <a:t>EatOkra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58000" y="4663440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A7CD5"/>
                </a:solidFill>
                <a:latin typeface="Calibri"/>
              </a:defRPr>
            </a:pPr>
            <a:r>
              <a:t>Accelerator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686800" y="4663440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Calibri"/>
              </a:defRPr>
            </a:pPr>
            <a:r>
              <a:t>Accelerator Fast-Track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57200" y="4983479"/>
            <a:ext cx="10972800" cy="301752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57200" y="4983479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A534"/>
                </a:solidFill>
                <a:latin typeface="Calibri"/>
              </a:defRPr>
            </a:pPr>
            <a:r>
              <a:t>86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371600" y="4983479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Kae Lani Palmisano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114800" y="4983479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Calibri"/>
              </a:defRPr>
            </a:pPr>
            <a:r>
              <a:t>Philadelphia Magazine (Foobooz sect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58000" y="4983479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A7CD5"/>
                </a:solidFill>
                <a:latin typeface="Calibri"/>
              </a:defRPr>
            </a:pPr>
            <a:r>
              <a:t>Media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686800" y="4983479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Calibri"/>
              </a:defRPr>
            </a:pPr>
            <a:r>
              <a:t>Media Momentum Engine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57200" y="5303519"/>
            <a:ext cx="10972800" cy="301752"/>
          </a:xfrm>
          <a:prstGeom prst="rect">
            <a:avLst/>
          </a:prstGeom>
          <a:solidFill>
            <a:srgbClr val="1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57200" y="5303519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A534"/>
                </a:solidFill>
                <a:latin typeface="Calibri"/>
              </a:defRPr>
            </a:pPr>
            <a:r>
              <a:t>86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371600" y="5303519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Kiki Aranita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114800" y="5303519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Calibri"/>
              </a:defRPr>
            </a:pPr>
            <a:r>
              <a:t>The Philadelphia Inquirer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858000" y="5303519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A7CD5"/>
                </a:solidFill>
                <a:latin typeface="Calibri"/>
              </a:defRPr>
            </a:pPr>
            <a:r>
              <a:t>Media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686800" y="5303519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Calibri"/>
              </a:defRPr>
            </a:pPr>
            <a:r>
              <a:t>Media Momentum Engine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57200" y="5623560"/>
            <a:ext cx="10972800" cy="301752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57200" y="5623560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A534"/>
                </a:solidFill>
                <a:latin typeface="Calibri"/>
              </a:defRPr>
            </a:pPr>
            <a:r>
              <a:t>86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371600" y="5623560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Rudy J. Ellis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114800" y="5623560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Calibri"/>
              </a:defRPr>
            </a:pPr>
            <a:r>
              <a:t>Switchboard Live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858000" y="5623560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A7CD5"/>
                </a:solidFill>
                <a:latin typeface="Calibri"/>
              </a:defRPr>
            </a:pPr>
            <a:r>
              <a:t>Founder-Connector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686800" y="5623560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Calibri"/>
              </a:defRPr>
            </a:pPr>
            <a:r>
              <a:t>Connector Express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57200" y="5943600"/>
            <a:ext cx="10972800" cy="301752"/>
          </a:xfrm>
          <a:prstGeom prst="rect">
            <a:avLst/>
          </a:prstGeom>
          <a:solidFill>
            <a:srgbClr val="1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57200" y="5943600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A534"/>
                </a:solidFill>
                <a:latin typeface="Calibri"/>
              </a:defRPr>
            </a:pPr>
            <a:r>
              <a:t>86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371600" y="5943600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Bob Moore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114800" y="5943600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Calibri"/>
              </a:defRPr>
            </a:pPr>
            <a:r>
              <a:t>Crossbeam (now merged with Reveal)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858000" y="5943600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A7CD5"/>
                </a:solidFill>
                <a:latin typeface="Calibri"/>
              </a:defRPr>
            </a:pPr>
            <a:r>
              <a:t>Founder-Connector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686800" y="5943600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Calibri"/>
              </a:defRPr>
            </a:pPr>
            <a:r>
              <a:t>Connector Express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A534"/>
                </a:solidFill>
                <a:latin typeface="Calibri"/>
              </a:defRPr>
            </a:pPr>
            <a:r>
              <a:t>WEEK-BY-WEEK ACTION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4572000" cy="27432"/>
          </a:xfrm>
          <a:prstGeom prst="rect">
            <a:avLst/>
          </a:prstGeom>
          <a:solidFill>
            <a:srgbClr val="D4A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2743200" cy="5029200"/>
          </a:xfrm>
          <a:prstGeom prst="roundRect">
            <a:avLst/>
          </a:prstGeom>
          <a:solidFill>
            <a:srgbClr val="1A2A44"/>
          </a:solidFill>
          <a:ln w="12700">
            <a:solidFill>
              <a:srgbClr val="D4A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3716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4A534"/>
                </a:solidFill>
                <a:latin typeface="Calibri"/>
              </a:defRPr>
            </a:pPr>
            <a:r>
              <a:t>WEEK 1-2: 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  Seed 5-10 influencers with beta 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79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  Onboard 3-5 champion restaurateurs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  Submit accelerator applications (LIFT Labs, Dreamit, Food-X)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720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  Begin Tier 1 outreach (Rank 90-100)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949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  Secure first media contact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1188720"/>
            <a:ext cx="2743200" cy="5029200"/>
          </a:xfrm>
          <a:prstGeom prst="roundRect">
            <a:avLst/>
          </a:prstGeom>
          <a:solidFill>
            <a:srgbClr val="1A2A44"/>
          </a:solidFill>
          <a:ln w="12700">
            <a:solidFill>
              <a:srgbClr val="D4A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79" y="13716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4A534"/>
                </a:solidFill>
                <a:latin typeface="Calibri"/>
              </a:defRPr>
            </a:pPr>
            <a:r>
              <a:t>WEEK 3-4: MOMENTUM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1031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  Coordinated influencer drop (48-hour window)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926079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  Media coverage from Eater Philly or Technical.ly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3749039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  University partnerships initiated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45720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  Tier 2 outreach begins (Rank 70-89)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53949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  NJ-to-NYC bridge chain activated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188720"/>
            <a:ext cx="2743200" cy="5029200"/>
          </a:xfrm>
          <a:prstGeom prst="roundRect">
            <a:avLst/>
          </a:prstGeom>
          <a:solidFill>
            <a:srgbClr val="1A2A44"/>
          </a:solidFill>
          <a:ln w="12700">
            <a:solidFill>
              <a:srgbClr val="3A7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3716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4A534"/>
                </a:solidFill>
                <a:latin typeface="Calibri"/>
              </a:defRPr>
            </a:pPr>
            <a:r>
              <a:t>WEEK 5-8: ACCELERATION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1031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  Multiple media mentions creating buzz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926079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  Restaurateur case studies documented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749039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  Student beta tester cohort active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5720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  Investor meetings and term sheet discussions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3949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  Full FOMO messaging: 'Round is filling'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89720" y="1188720"/>
            <a:ext cx="2743200" cy="5029200"/>
          </a:xfrm>
          <a:prstGeom prst="roundRect">
            <a:avLst/>
          </a:prstGeom>
          <a:solidFill>
            <a:srgbClr val="1A2A44"/>
          </a:solidFill>
          <a:ln w="12700">
            <a:solidFill>
              <a:srgbClr val="3A7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0" y="13716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4A534"/>
                </a:solidFill>
                <a:latin typeface="Calibri"/>
              </a:defRPr>
            </a:pPr>
            <a:r>
              <a:t>WEEK 9-12: CLOSE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21031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  Term sheet(s) received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600" y="2926079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  Strategic investors brought 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3749039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  Round closed at $500K-$1.5M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2600" y="45720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  Press: 'Tastyr IQ raises seed round'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72600" y="53949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  Prepare for Series A path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A534"/>
                </a:solidFill>
                <a:latin typeface="Calibri"/>
              </a:defRPr>
            </a:pPr>
            <a:r>
              <a:t>KPIs &amp; SUCCESS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4572000" cy="27432"/>
          </a:xfrm>
          <a:prstGeom prst="rect">
            <a:avLst/>
          </a:prstGeom>
          <a:solidFill>
            <a:srgbClr val="D4A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1097280"/>
          </a:xfrm>
          <a:prstGeom prst="roundRect">
            <a:avLst/>
          </a:prstGeom>
          <a:solidFill>
            <a:srgbClr val="1A2A44"/>
          </a:solidFill>
          <a:ln w="12700">
            <a:solidFill>
              <a:srgbClr val="D4A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Investor Meetings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280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A534"/>
                </a:solidFill>
                <a:latin typeface="Calibri"/>
              </a:defRPr>
            </a:pPr>
            <a:r>
              <a:t>15+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Calibri"/>
              </a:defRPr>
            </a:pPr>
            <a:r>
              <a:t>within first 4 weeks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188720"/>
            <a:ext cx="5486400" cy="1097280"/>
          </a:xfrm>
          <a:prstGeom prst="roundRect">
            <a:avLst/>
          </a:prstGeom>
          <a:solidFill>
            <a:srgbClr val="1A2A44"/>
          </a:solidFill>
          <a:ln w="12700">
            <a:solidFill>
              <a:srgbClr val="D4A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280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Term Sheets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1280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A534"/>
                </a:solidFill>
                <a:latin typeface="Calibri"/>
              </a:defRPr>
            </a:pPr>
            <a:r>
              <a:t>2-3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Calibri"/>
              </a:defRPr>
            </a:pPr>
            <a:r>
              <a:t>by week 8-10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68880"/>
            <a:ext cx="5486400" cy="1097280"/>
          </a:xfrm>
          <a:prstGeom prst="roundRect">
            <a:avLst/>
          </a:prstGeom>
          <a:solidFill>
            <a:srgbClr val="1A2A44"/>
          </a:solidFill>
          <a:ln w="12700">
            <a:solidFill>
              <a:srgbClr val="D4A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560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Influencer Posts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560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A534"/>
                </a:solidFill>
                <a:latin typeface="Calibri"/>
              </a:defRPr>
            </a:pPr>
            <a:r>
              <a:t>10+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017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Calibri"/>
              </a:defRPr>
            </a:pPr>
            <a:r>
              <a:t>in first 2 weeks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468880"/>
            <a:ext cx="5486400" cy="1097280"/>
          </a:xfrm>
          <a:prstGeom prst="roundRect">
            <a:avLst/>
          </a:prstGeom>
          <a:solidFill>
            <a:srgbClr val="1A2A44"/>
          </a:solidFill>
          <a:ln w="12700">
            <a:solidFill>
              <a:srgbClr val="D4A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560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Media Mentions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2560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A534"/>
                </a:solidFill>
                <a:latin typeface="Calibri"/>
              </a:defRPr>
            </a:pPr>
            <a:r>
              <a:t>5+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017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Calibri"/>
              </a:defRPr>
            </a:pPr>
            <a:r>
              <a:t>across tri-state press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749039"/>
            <a:ext cx="5486400" cy="1097280"/>
          </a:xfrm>
          <a:prstGeom prst="roundRect">
            <a:avLst/>
          </a:prstGeom>
          <a:solidFill>
            <a:srgbClr val="1A2A44"/>
          </a:solidFill>
          <a:ln w="12700">
            <a:solidFill>
              <a:srgbClr val="D4A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84047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Restaurateur Champions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38404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A534"/>
                </a:solidFill>
                <a:latin typeface="Calibri"/>
              </a:defRPr>
            </a:pPr>
            <a:r>
              <a:t>10+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29767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Calibri"/>
              </a:defRPr>
            </a:pPr>
            <a:r>
              <a:t>in founding cohort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3749039"/>
            <a:ext cx="5486400" cy="1097280"/>
          </a:xfrm>
          <a:prstGeom prst="roundRect">
            <a:avLst/>
          </a:prstGeom>
          <a:solidFill>
            <a:srgbClr val="1A2A44"/>
          </a:solidFill>
          <a:ln w="12700">
            <a:solidFill>
              <a:srgbClr val="D4A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384047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University Partners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38404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A534"/>
                </a:solidFill>
                <a:latin typeface="Calibri"/>
              </a:defRPr>
            </a:pPr>
            <a:r>
              <a:t>2-3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29767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Calibri"/>
              </a:defRPr>
            </a:pPr>
            <a:r>
              <a:t>active partnerships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029199"/>
            <a:ext cx="5486400" cy="1097280"/>
          </a:xfrm>
          <a:prstGeom prst="roundRect">
            <a:avLst/>
          </a:prstGeom>
          <a:solidFill>
            <a:srgbClr val="1A2A44"/>
          </a:solidFill>
          <a:ln w="12700">
            <a:solidFill>
              <a:srgbClr val="D4A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1206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App Downloads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51206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A534"/>
                </a:solidFill>
                <a:latin typeface="Calibri"/>
              </a:defRPr>
            </a:pPr>
            <a:r>
              <a:t>500+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57783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Calibri"/>
              </a:defRPr>
            </a:pPr>
            <a:r>
              <a:t>in first month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5029199"/>
            <a:ext cx="5486400" cy="1097280"/>
          </a:xfrm>
          <a:prstGeom prst="roundRect">
            <a:avLst/>
          </a:prstGeom>
          <a:solidFill>
            <a:srgbClr val="1A2A44"/>
          </a:solidFill>
          <a:ln w="12700">
            <a:solidFill>
              <a:srgbClr val="D4A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51206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Round Closed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51206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A534"/>
                </a:solidFill>
                <a:latin typeface="Calibri"/>
              </a:defRPr>
            </a:pPr>
            <a:r>
              <a:t>$500K-$1.5M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557783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Calibri"/>
              </a:defRPr>
            </a:pPr>
            <a:r>
              <a:t>by week 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A534"/>
                </a:solidFill>
                <a:latin typeface="Calibri"/>
              </a:defRPr>
            </a:pPr>
            <a:r>
              <a:t>CRM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4572000" cy="27432"/>
          </a:xfrm>
          <a:prstGeom prst="rect">
            <a:avLst/>
          </a:prstGeom>
          <a:solidFill>
            <a:srgbClr val="D4A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309 contacts | 24 columns | 12 segments | Google Sheets ready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2011680"/>
            <a:ext cx="3657600" cy="1645920"/>
          </a:xfrm>
          <a:prstGeom prst="roundRect">
            <a:avLst/>
          </a:prstGeom>
          <a:solidFill>
            <a:srgbClr val="1A2A44"/>
          </a:solidFill>
          <a:ln w="12700">
            <a:solidFill>
              <a:srgbClr val="D4A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488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4A534"/>
                </a:solidFill>
                <a:latin typeface="Calibri"/>
              </a:defRPr>
            </a:pPr>
            <a:r>
              <a:t>IDENTITY BLOCK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Segment, Name, Title/Role,</a:t>
            </a:r>
            <a:br/>
            <a:r>
              <a:t>Organization, City/State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2011680"/>
            <a:ext cx="3657600" cy="1645920"/>
          </a:xfrm>
          <a:prstGeom prst="roundRect">
            <a:avLst/>
          </a:prstGeom>
          <a:solidFill>
            <a:srgbClr val="1A2A44"/>
          </a:solidFill>
          <a:ln w="12700">
            <a:solidFill>
              <a:srgbClr val="D4A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21488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4A534"/>
                </a:solidFill>
                <a:latin typeface="Calibri"/>
              </a:defRPr>
            </a:pPr>
            <a:r>
              <a:t>CONTACT BLOCK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65176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Email, LinkedIn,</a:t>
            </a:r>
            <a:br/>
            <a:r>
              <a:t>Other Social, Phone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011680"/>
            <a:ext cx="3657600" cy="1645920"/>
          </a:xfrm>
          <a:prstGeom prst="roundRect">
            <a:avLst/>
          </a:prstGeom>
          <a:solidFill>
            <a:srgbClr val="1A2A44"/>
          </a:solidFill>
          <a:ln w="12700">
            <a:solidFill>
              <a:srgbClr val="D4A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1488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4A534"/>
                </a:solidFill>
                <a:latin typeface="Calibri"/>
              </a:defRPr>
            </a:pPr>
            <a:r>
              <a:t>RELEVANCE BLOCK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65176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Investment Focus, Check Size,</a:t>
            </a:r>
            <a:br/>
            <a:r>
              <a:t>Notable Work, Food Connection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4114800"/>
            <a:ext cx="3657600" cy="1645920"/>
          </a:xfrm>
          <a:prstGeom prst="roundRect">
            <a:avLst/>
          </a:prstGeom>
          <a:solidFill>
            <a:srgbClr val="1A2A44"/>
          </a:solidFill>
          <a:ln w="12700">
            <a:solidFill>
              <a:srgbClr val="D4A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2519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4A534"/>
                </a:solidFill>
                <a:latin typeface="Calibri"/>
              </a:defRPr>
            </a:pPr>
            <a:r>
              <a:t>PSYCHOLOGY BLOCK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7548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Why Contact, Psychological</a:t>
            </a:r>
            <a:br/>
            <a:r>
              <a:t>Angle, Emotional Trigger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4114800"/>
            <a:ext cx="3657600" cy="1645920"/>
          </a:xfrm>
          <a:prstGeom prst="roundRect">
            <a:avLst/>
          </a:prstGeom>
          <a:solidFill>
            <a:srgbClr val="1A2A44"/>
          </a:solidFill>
          <a:ln w="12700">
            <a:solidFill>
              <a:srgbClr val="D4A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42519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4A534"/>
                </a:solidFill>
                <a:latin typeface="Calibri"/>
              </a:defRPr>
            </a:pPr>
            <a:r>
              <a:t>STRATEGY BLOCK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7548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Connection Degree, Warm Intro,</a:t>
            </a:r>
            <a:br/>
            <a:r>
              <a:t>Rank, Chain Strategy, Approach,</a:t>
            </a:r>
            <a:br/>
            <a:r>
              <a:t>Custom Message, Status, Notes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A534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4572000" cy="27432"/>
          </a:xfrm>
          <a:prstGeom prst="rect">
            <a:avLst/>
          </a:prstGeom>
          <a:solidFill>
            <a:srgbClr val="D4A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5029200"/>
          </a:xfrm>
          <a:prstGeom prst="roundRect">
            <a:avLst/>
          </a:prstGeom>
          <a:solidFill>
            <a:srgbClr val="1A2A44"/>
          </a:solidFill>
          <a:ln w="12700">
            <a:solidFill>
              <a:srgbClr val="D4A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534"/>
                </a:solidFill>
                <a:latin typeface="Calibri"/>
              </a:defRPr>
            </a:pPr>
            <a:r>
              <a:t>ALI (CMO — Philadelphia)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Begin Tier 1 outreach this week (Rank 90-100 contacts)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Send beta access invites to top 10 food influencers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Schedule 3-5 restaurateur meetings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Submit Comcast LIFT Labs and Food-X accelerator applications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8912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Pitch Eater Philly and Technical.ly for launch coverage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9834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Connect with Penn Food Innovation Lab faculty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5778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LinkedIn content: 'Building something exciting in Philly food-tech'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188720"/>
            <a:ext cx="5303520" cy="5029200"/>
          </a:xfrm>
          <a:prstGeom prst="roundRect">
            <a:avLst/>
          </a:prstGeom>
          <a:solidFill>
            <a:srgbClr val="1A2A44"/>
          </a:solidFill>
          <a:ln w="12700">
            <a:solidFill>
              <a:srgbClr val="3A7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3716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A7CD5"/>
                </a:solidFill>
                <a:latin typeface="Calibri"/>
              </a:defRPr>
            </a:pPr>
            <a:r>
              <a:t>NIK (CEO — Bay Area)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0116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Prepare investor demo environment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6060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Finalize one-pager and pitch deck for investor meetings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2004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Set up analytics dashboard for tracking user engagement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7947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Prepare restaurateur dashboard mockup for founding cohort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3891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Review and refine chain strategy timing with Ali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534"/>
                </a:solidFill>
                <a:latin typeface="Calibri"/>
              </a:defRPr>
            </a:pPr>
            <a:r>
              <a:t>APPENDIX: SEGMENT BREAKDOWN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4572000" cy="27432"/>
          </a:xfrm>
          <a:prstGeom prst="rect">
            <a:avLst/>
          </a:prstGeom>
          <a:solidFill>
            <a:srgbClr val="D4A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4A534"/>
                </a:solidFill>
                <a:latin typeface="Calibri"/>
              </a:defRPr>
            </a:pPr>
            <a:r>
              <a:t>Angel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1887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188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E8E8"/>
                </a:solidFill>
                <a:latin typeface="Calibri"/>
              </a:defRPr>
            </a:pPr>
            <a:r>
              <a:t>Robin Hood Ventures, Broad St Angels, Keiretsu, NJ Angels, Princeton Angel Group, Golden Seeds, Dela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6420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4A534"/>
                </a:solidFill>
                <a:latin typeface="Calibri"/>
              </a:defRPr>
            </a:pPr>
            <a:r>
              <a:t>VC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66420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66420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E8E8"/>
                </a:solidFill>
                <a:latin typeface="Calibri"/>
              </a:defRPr>
            </a:pPr>
            <a:r>
              <a:t>First Round, Dreamit, Osage, SeventySix, Collaborative Fund, S2G Ventures, Lerer Hippeau, Big Idea 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3969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4A534"/>
                </a:solidFill>
                <a:latin typeface="Calibri"/>
              </a:defRPr>
            </a:pPr>
            <a:r>
              <a:t>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139696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139696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E8E8"/>
                </a:solidFill>
                <a:latin typeface="Calibri"/>
              </a:defRPr>
            </a:pPr>
            <a:r>
              <a:t>Graham Partners, Swander Pace, Mistral Equity, L Catterton, Brynwood Partners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615184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4A534"/>
                </a:solidFill>
                <a:latin typeface="Calibri"/>
              </a:defRPr>
            </a:pPr>
            <a:r>
              <a:t>Accelerator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615184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615184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E8E8"/>
                </a:solidFill>
                <a:latin typeface="Calibri"/>
              </a:defRPr>
            </a:pPr>
            <a:r>
              <a:t>Comcast LIFT Labs, Big Idea Ventures, EatOkra, Plug and Play, Horn Entrepreneurship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09067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4A534"/>
                </a:solidFill>
                <a:latin typeface="Calibri"/>
              </a:defRPr>
            </a:pPr>
            <a:r>
              <a:t>Restaurateur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3090672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09067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E8E8"/>
                </a:solidFill>
                <a:latin typeface="Calibri"/>
              </a:defRPr>
            </a:pPr>
            <a:r>
              <a:t>Vetri, Solomonov/CookNSolo, Starr, Yin, Garces, Vernick, Burke, Calagione + 24 more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566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4A534"/>
                </a:solidFill>
                <a:latin typeface="Calibri"/>
              </a:defRPr>
            </a:pPr>
            <a:r>
              <a:t>Food Blogger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35661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3566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E8E8"/>
                </a:solidFill>
                <a:latin typeface="Calibri"/>
              </a:defRPr>
            </a:pPr>
            <a:r>
              <a:t>PhillyFoodFanatic (577K), JoshEatsPhilly (190K), PhillyFoodies (135K) + 28 more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04164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4A534"/>
                </a:solidFill>
                <a:latin typeface="Calibri"/>
              </a:defRPr>
            </a:pPr>
            <a:r>
              <a:t>Media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404164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04164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E8E8"/>
                </a:solidFill>
                <a:latin typeface="Calibri"/>
              </a:defRPr>
            </a:pPr>
            <a:r>
              <a:t>Craig LaBan (Inquirer), Kae Lani Palmisano (PhillyMag), Technical.ly + 22 more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51713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4A534"/>
                </a:solidFill>
                <a:latin typeface="Calibri"/>
              </a:defRPr>
            </a:pPr>
            <a:r>
              <a:t>University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4517136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4517136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E8E8"/>
                </a:solidFill>
                <a:latin typeface="Calibri"/>
              </a:defRPr>
            </a:pPr>
            <a:r>
              <a:t>UPenn/Wharton, Temple, Drexel, Princeton, Rutgers, U of Delaware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992624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4A534"/>
                </a:solidFill>
                <a:latin typeface="Calibri"/>
              </a:defRPr>
            </a:pPr>
            <a:r>
              <a:t>Founder-Connector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0" y="4992624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4992624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E8E8"/>
                </a:solidFill>
                <a:latin typeface="Calibri"/>
              </a:defRPr>
            </a:pPr>
            <a:r>
              <a:t>PSL, 1Philadelphia, DuckDuckGo, Crossbeam, Guru, Black and Mobile + 18 more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46811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4A534"/>
                </a:solidFill>
                <a:latin typeface="Calibri"/>
              </a:defRPr>
            </a:pPr>
            <a:r>
              <a:t>Food Industry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5468112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546811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E8E8"/>
                </a:solidFill>
                <a:latin typeface="Calibri"/>
              </a:defRPr>
            </a:pPr>
            <a:r>
              <a:t>Sysco, US Foods, Baldor, Toast, DoorDash, PRLA, NJRHA, DRA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943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4A534"/>
                </a:solidFill>
                <a:latin typeface="Calibri"/>
              </a:defRPr>
            </a:pPr>
            <a:r>
              <a:t>NJ-DE-Suburb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86000" y="59436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5943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E8E8"/>
                </a:solidFill>
                <a:latin typeface="Calibri"/>
              </a:defRPr>
            </a:pPr>
            <a:r>
              <a:t>South Jersey, Princeton corridor, Wilmington, Main Line, Bucks County, Lehigh Valley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12191695" cy="36576"/>
          </a:xfrm>
          <a:prstGeom prst="rect">
            <a:avLst/>
          </a:prstGeom>
          <a:solidFill>
            <a:srgbClr val="D4A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D4A534"/>
                </a:solidFill>
                <a:latin typeface="Calibri"/>
              </a:defRPr>
            </a:pPr>
            <a:r>
              <a:t>TASTYR IQ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Rates Dishes, Not Restaurants.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A7CD5"/>
                </a:solidFill>
                <a:latin typeface="Calibri"/>
              </a:defRPr>
            </a:pPr>
            <a:r>
              <a:t>ali@tastyriq.com  |  tastyriq.com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Nik Amin (CEO)  &amp;  Ali Mabsoute (CMO)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Calibri"/>
              </a:defRPr>
            </a:pPr>
            <a:r>
              <a:t>Confidential — March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