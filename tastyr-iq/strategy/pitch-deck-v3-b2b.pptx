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Monthly Active Users (K)</c:v>
                </c:pt>
              </c:strCache>
            </c:strRef>
          </c:tx>
          <c:spPr>
            <a:solidFill>
              <a:srgbClr val="FF6B6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Oct '25</c:v>
                  </c:pt>
                  <c:pt idx="1">
                    <c:v>Nov '25</c:v>
                  </c:pt>
                  <c:pt idx="2">
                    <c:v>Dec '25</c:v>
                  </c:pt>
                  <c:pt idx="3">
                    <c:v>Jan '26</c:v>
                  </c:pt>
                  <c:pt idx="4">
                    <c:v>Feb '26</c:v>
                  </c:pt>
                  <c:pt idx="5">
                    <c:v>Mar '26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2.1</c:v>
                </c:pt>
                <c:pt idx="1">
                  <c:v>4.8</c:v>
                </c:pt>
                <c:pt idx="2">
                  <c:v>8.5</c:v>
                </c:pt>
                <c:pt idx="3">
                  <c:v>14.2</c:v>
                </c:pt>
                <c:pt idx="4">
                  <c:v>22.6</c:v>
                </c:pt>
                <c:pt idx="5">
                  <c:v>35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892A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3A407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892A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242955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($M)</c:v>
                </c:pt>
              </c:strCache>
            </c:strRef>
          </c:tx>
          <c:spPr>
            <a:solidFill>
              <a:srgbClr val="FF6B6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F3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1.2</c:v>
                </c:pt>
                <c:pt idx="1">
                  <c:v>5.8</c:v>
                </c:pt>
                <c:pt idx="2">
                  <c:v>18.5</c:v>
                </c:pt>
                <c:pt idx="3">
                  <c:v>42</c:v>
                </c:pt>
                <c:pt idx="4">
                  <c:v>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1F3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A506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ECF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0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2286000"/>
            <a:ext cx="5486400" cy="5486400"/>
          </a:xfrm>
          <a:prstGeom prst="ellipse">
            <a:avLst/>
          </a:prstGeom>
          <a:solidFill>
            <a:srgbClr val="FF6B6B">
              <a:alpha val="8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-1371600"/>
            <a:ext cx="3657600" cy="3657600"/>
          </a:xfrm>
          <a:prstGeom prst="ellipse">
            <a:avLst/>
          </a:prstGeom>
          <a:solidFill>
            <a:srgbClr val="FF6B6B">
              <a:alpha val="7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spc="4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Tastyr IQ</a:t>
            </a:r>
            <a:endParaRPr lang="en-US" sz="56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0" y="123444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analytics layer restaurants never had.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31520" y="3108960"/>
            <a:ext cx="2286000" cy="0"/>
          </a:xfrm>
          <a:prstGeom prst="line">
            <a:avLst/>
          </a:prstGeom>
          <a:noFill/>
          <a:ln w="38100">
            <a:solidFill>
              <a:srgbClr val="FF6B6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33832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Dish Intelligence for Restaurant Operators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4389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Round  |  March 2026  |  Confidential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657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Restaurants have no idea which dishes drive loyalty.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02920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892808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76479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 Data Is Not Dish Intelligence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508760" y="21305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Toast and Square tell you what sold. They cannot tell you what customers actually loved or hated.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0080" y="2743200"/>
            <a:ext cx="502920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944368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08760" y="28163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Menu Optimization Is Guesswork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1508760" y="318211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Chefs and operators make menu decisions based on intuition, not data. Margins suffer.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40080" y="3794760"/>
            <a:ext cx="502920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995928"/>
            <a:ext cx="411480" cy="4114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08760" y="386791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 Noise, Zero Signal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1508760" y="42336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and Google reviews mention dishes buried in paragraphs. No operator can extract actionable dish-level insights at scale.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6217920" y="1691640"/>
            <a:ext cx="2468880" cy="2971800"/>
          </a:xfrm>
          <a:prstGeom prst="rect">
            <a:avLst/>
          </a:prstGeom>
          <a:solidFill>
            <a:srgbClr val="1A1F3D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Text 13"/>
          <p:cNvSpPr/>
          <p:nvPr/>
        </p:nvSpPr>
        <p:spPr>
          <a:xfrm>
            <a:off x="6217920" y="201168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78%</a:t>
            </a:r>
            <a:endParaRPr lang="en-US" sz="5400" dirty="0"/>
          </a:p>
        </p:txBody>
      </p:sp>
      <p:sp>
        <p:nvSpPr>
          <p:cNvPr id="19" name="Text 14"/>
          <p:cNvSpPr/>
          <p:nvPr/>
        </p:nvSpPr>
        <p:spPr>
          <a:xfrm>
            <a:off x="6492240" y="30175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restaurant operators say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lack actionable data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individual dish performance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6492240" y="41148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Restaurant Technology Survey 2025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657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 Solution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Tastyr IQ gives restaurants an AI-powered analytics dashboard that scores every dish and reveals what drives customer loyalty.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94360" cy="594360"/>
          </a:xfrm>
          <a:prstGeom prst="ellipse">
            <a:avLst/>
          </a:prstGeom>
          <a:solidFill>
            <a:srgbClr val="FF6B6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2029968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874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Dish Performance Dashboard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417320" y="2240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scoring and trend analysis for every dish on the menu. See what customers love, what needs work, and what to cut.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46320" y="1920240"/>
            <a:ext cx="594360" cy="594360"/>
          </a:xfrm>
          <a:prstGeom prst="ellipse">
            <a:avLst/>
          </a:prstGeom>
          <a:solidFill>
            <a:srgbClr val="FF6B6B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48" y="2029968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623560" y="1874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Menu Optimization Engine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5623560" y="2240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recommendations for pricing, positioning, and seasonal rotations based on dish performance data.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40080" y="3383280"/>
            <a:ext cx="594360" cy="594360"/>
          </a:xfrm>
          <a:prstGeom prst="ellipse">
            <a:avLst/>
          </a:prstGeom>
          <a:solidFill>
            <a:srgbClr val="FF6B6B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3493008"/>
            <a:ext cx="365760" cy="3657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417320" y="33375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Competitive Dish Benchmarking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1417320" y="37033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how your dishes score against competitors in your area. Identify gaps and opportunities.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4846320" y="3383280"/>
            <a:ext cx="594360" cy="594360"/>
          </a:xfrm>
          <a:prstGeom prst="ellipse">
            <a:avLst/>
          </a:prstGeom>
          <a:solidFill>
            <a:srgbClr val="FF6B6B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6048" y="3493008"/>
            <a:ext cx="365760" cy="36576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623560" y="33375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Consumer Demand Signals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5623560" y="37033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what dishes consumers are searching for in your area before they walk through your door.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657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 Overview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3291840" cy="3474720"/>
          </a:xfrm>
          <a:prstGeom prst="rect">
            <a:avLst/>
          </a:prstGeom>
          <a:solidFill>
            <a:srgbClr val="1A1F3D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630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600" kern="0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TASTYR IQ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05840" y="2103120"/>
            <a:ext cx="2560320" cy="320040"/>
          </a:xfrm>
          <a:prstGeom prst="rect">
            <a:avLst/>
          </a:prstGeom>
          <a:solidFill>
            <a:srgbClr val="2A3058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dishes, restaurants...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05840" y="2651760"/>
            <a:ext cx="2560320" cy="502920"/>
          </a:xfrm>
          <a:prstGeom prst="rect">
            <a:avLst/>
          </a:prstGeom>
          <a:solidFill>
            <a:srgbClr val="2A3058"/>
          </a:solidFill>
          <a:ln/>
        </p:spPr>
      </p:sp>
      <p:sp>
        <p:nvSpPr>
          <p:cNvPr id="9" name="Text 7"/>
          <p:cNvSpPr/>
          <p:nvPr/>
        </p:nvSpPr>
        <p:spPr>
          <a:xfrm>
            <a:off x="1143000" y="267004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Truffle Mushroom Risotto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43000" y="29077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Italian  ★ 94/100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154680" y="2743200"/>
            <a:ext cx="320040" cy="320040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2" name="Text 10"/>
          <p:cNvSpPr/>
          <p:nvPr/>
        </p:nvSpPr>
        <p:spPr>
          <a:xfrm>
            <a:off x="3154680" y="27432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94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005840" y="3291840"/>
            <a:ext cx="2560320" cy="502920"/>
          </a:xfrm>
          <a:prstGeom prst="rect">
            <a:avLst/>
          </a:prstGeom>
          <a:solidFill>
            <a:srgbClr val="2A3058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33101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Pan-Seared Salmon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43000" y="35478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Seafood  ★ 92/100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154680" y="3383280"/>
            <a:ext cx="320040" cy="320040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7" name="Text 15"/>
          <p:cNvSpPr/>
          <p:nvPr/>
        </p:nvSpPr>
        <p:spPr>
          <a:xfrm>
            <a:off x="3154680" y="33832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92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005840" y="3931920"/>
            <a:ext cx="2560320" cy="502920"/>
          </a:xfrm>
          <a:prstGeom prst="rect">
            <a:avLst/>
          </a:prstGeom>
          <a:solidFill>
            <a:srgbClr val="2A3058"/>
          </a:solidFill>
          <a:ln/>
        </p:spPr>
      </p:sp>
      <p:sp>
        <p:nvSpPr>
          <p:cNvPr id="19" name="Text 17"/>
          <p:cNvSpPr/>
          <p:nvPr/>
        </p:nvSpPr>
        <p:spPr>
          <a:xfrm>
            <a:off x="1143000" y="395020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Wagyu Beef Burger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43000" y="41879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American  ★ 89/100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154680" y="4023360"/>
            <a:ext cx="320040" cy="320040"/>
          </a:xfrm>
          <a:prstGeom prst="ellipse">
            <a:avLst/>
          </a:prstGeom>
          <a:solidFill>
            <a:srgbClr val="7C5CFC"/>
          </a:solidFill>
          <a:ln/>
        </p:spPr>
      </p:sp>
      <p:sp>
        <p:nvSpPr>
          <p:cNvPr id="22" name="Text 20"/>
          <p:cNvSpPr/>
          <p:nvPr/>
        </p:nvSpPr>
        <p:spPr>
          <a:xfrm>
            <a:off x="3154680" y="40233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89</a:t>
            </a:r>
            <a:endParaRPr lang="en-US" sz="9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325880"/>
            <a:ext cx="274320" cy="27432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4800600" y="12801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Dish Performance Dashboard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4800600" y="162763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scoring and trend analysis for every dish. See what customers love and what needs work.</a:t>
            </a:r>
            <a:endParaRPr lang="en-US" sz="1100" dirty="0"/>
          </a:p>
        </p:txBody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2194560"/>
            <a:ext cx="274320" cy="27432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4800600" y="21488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Menu Optimization Engine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4800600" y="249631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recommendations for pricing, positioning, and seasonal rotations based on dish data.</a:t>
            </a:r>
            <a:endParaRPr lang="en-US" sz="1100" dirty="0"/>
          </a:p>
        </p:txBody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3063240"/>
            <a:ext cx="274320" cy="274320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4800600" y="30175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Competitive Benchmarking</a:t>
            </a:r>
            <a:endParaRPr lang="en-US" sz="1400" dirty="0"/>
          </a:p>
        </p:txBody>
      </p:sp>
      <p:sp>
        <p:nvSpPr>
          <p:cNvPr id="31" name="Text 26"/>
          <p:cNvSpPr/>
          <p:nvPr/>
        </p:nvSpPr>
        <p:spPr>
          <a:xfrm>
            <a:off x="4800600" y="336499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how your dishes score against competitors in your area. Identify gaps and opportunities.</a:t>
            </a:r>
            <a:endParaRPr lang="en-US" sz="1100" dirty="0"/>
          </a:p>
        </p:txBody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3931920"/>
            <a:ext cx="274320" cy="274320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4800600" y="38862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Consumer Demand Signals</a:t>
            </a:r>
            <a:endParaRPr lang="en-US" sz="1400" dirty="0"/>
          </a:p>
        </p:txBody>
      </p:sp>
      <p:sp>
        <p:nvSpPr>
          <p:cNvPr id="34" name="Text 28"/>
          <p:cNvSpPr/>
          <p:nvPr/>
        </p:nvSpPr>
        <p:spPr>
          <a:xfrm>
            <a:off x="4800600" y="423367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what dishes consumers search for in your area before they walk through your door.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6576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 Opportunity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914400" y="1371600"/>
            <a:ext cx="2377440" cy="2377440"/>
          </a:xfrm>
          <a:prstGeom prst="ellipse">
            <a:avLst/>
          </a:prstGeom>
          <a:solidFill>
            <a:srgbClr val="1A1F3D">
              <a:alpha val="88000"/>
            </a:srgbClr>
          </a:solidFill>
          <a:ln w="25400">
            <a:solidFill>
              <a:srgbClr val="1A1F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65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2860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EC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$23B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28346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technology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analytics SaaS market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0" y="1600200"/>
            <a:ext cx="1920240" cy="1920240"/>
          </a:xfrm>
          <a:prstGeom prst="ellipse">
            <a:avLst/>
          </a:prstGeom>
          <a:solidFill>
            <a:srgbClr val="FF6B6B">
              <a:alpha val="88000"/>
            </a:srgbClr>
          </a:solidFill>
          <a:ln w="25400">
            <a:solidFill>
              <a:srgbClr val="FF6B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0" y="19659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0" y="22860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$5.8B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657600" y="28346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analytics &amp;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intelligence tools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35040" y="1828800"/>
            <a:ext cx="1463040" cy="1463040"/>
          </a:xfrm>
          <a:prstGeom prst="ellipse">
            <a:avLst/>
          </a:prstGeom>
          <a:solidFill>
            <a:srgbClr val="2EC4B6">
              <a:alpha val="88000"/>
            </a:srgbClr>
          </a:solidFill>
          <a:ln w="25400">
            <a:solidFill>
              <a:srgbClr val="2EC4B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35040" y="19659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035040" y="22860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$580M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035040" y="28346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Dish-level analytics SaaS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5 target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41148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SaaS market growing at 15.1% CAGR through 2030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657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Business Model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3840480" cy="1554480"/>
          </a:xfrm>
          <a:prstGeom prst="rect">
            <a:avLst/>
          </a:prstGeom>
          <a:solidFill>
            <a:srgbClr val="242955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508760"/>
            <a:ext cx="502920" cy="502920"/>
          </a:xfrm>
          <a:prstGeom prst="ellipse">
            <a:avLst/>
          </a:prstGeom>
          <a:solidFill>
            <a:srgbClr val="FF6B6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1618488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474720" y="14173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50%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554480" y="15361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Restaurant Analytics SaaS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68680" y="20574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Dish performance dashboards at $500/mo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plans: Basic / Pro / Enterprise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846320" y="1280160"/>
            <a:ext cx="3840480" cy="1554480"/>
          </a:xfrm>
          <a:prstGeom prst="rect">
            <a:avLst/>
          </a:prstGeom>
          <a:solidFill>
            <a:srgbClr val="242955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074920" y="1508760"/>
            <a:ext cx="502920" cy="502920"/>
          </a:xfrm>
          <a:prstGeom prst="ellipse">
            <a:avLst/>
          </a:prstGeom>
          <a:solidFill>
            <a:srgbClr val="FF6B6B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1618488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680960" y="14173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25%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5760720" y="15361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Licensing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074920" y="20574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Dish intelligence for delivery platforms &amp; CPG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annual contracts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40080" y="3108960"/>
            <a:ext cx="3840480" cy="1554480"/>
          </a:xfrm>
          <a:prstGeom prst="rect">
            <a:avLst/>
          </a:prstGeom>
          <a:solidFill>
            <a:srgbClr val="242955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68680" y="3337560"/>
            <a:ext cx="502920" cy="502920"/>
          </a:xfrm>
          <a:prstGeom prst="ellipse">
            <a:avLst/>
          </a:prstGeom>
          <a:solidFill>
            <a:srgbClr val="FF6B6B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" y="3447288"/>
            <a:ext cx="292608" cy="29260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3474720" y="32461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15%</a:t>
            </a:r>
            <a:endParaRPr lang="en-US" sz="2200" dirty="0"/>
          </a:p>
        </p:txBody>
      </p:sp>
      <p:sp>
        <p:nvSpPr>
          <p:cNvPr id="20" name="Text 15"/>
          <p:cNvSpPr/>
          <p:nvPr/>
        </p:nvSpPr>
        <p:spPr>
          <a:xfrm>
            <a:off x="1554480" y="33649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B2C Subscriptions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868680" y="38862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app drives data collection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$4.99/mo premium tier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4846320" y="3108960"/>
            <a:ext cx="3840480" cy="1554480"/>
          </a:xfrm>
          <a:prstGeom prst="rect">
            <a:avLst/>
          </a:prstGeom>
          <a:solidFill>
            <a:srgbClr val="242955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074920" y="3337560"/>
            <a:ext cx="502920" cy="502920"/>
          </a:xfrm>
          <a:prstGeom prst="ellipse">
            <a:avLst/>
          </a:prstGeom>
          <a:solidFill>
            <a:srgbClr val="FF6B6B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4648" y="3447288"/>
            <a:ext cx="292608" cy="29260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680960" y="32461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10%</a:t>
            </a:r>
            <a:endParaRPr lang="en-US" sz="2200" dirty="0"/>
          </a:p>
        </p:txBody>
      </p:sp>
      <p:sp>
        <p:nvSpPr>
          <p:cNvPr id="26" name="Text 20"/>
          <p:cNvSpPr/>
          <p:nvPr/>
        </p:nvSpPr>
        <p:spPr>
          <a:xfrm>
            <a:off x="5760720" y="33649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 Integration Fees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5074920" y="38862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partnerships with Toast, Square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Per-location setup fees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657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Competitive Landscape</a:t>
            </a:r>
            <a:endParaRPr lang="en-US" sz="3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7863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371600"/>
                <a:gridCol w="1371600"/>
                <a:gridCol w="1554480"/>
                <a:gridCol w="15544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Feature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Tastyr IQ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B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Toast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Yelp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OpenTable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Dish-Level Scores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Scoring Algorithm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Menu Optimization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Competitive Benchmarks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 Discovery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 Integration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Licensing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3891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Toast does POS. OpenTable does reservations. No one offers dish-level performance analytics. We are the first.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657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Go-to-Market Strategy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256032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188720"/>
            <a:ext cx="2560320" cy="7315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417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20574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Q2-Q4 2026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2468880"/>
            <a:ext cx="2194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Founding restaurant cohort: 10 Philly restaurants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dish analytics ROI with case studies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 integration pilot (Toast)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app drives data flywheel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74720" y="1188720"/>
            <a:ext cx="256032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474720" y="1188720"/>
            <a:ext cx="2560320" cy="73152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0" y="1417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657600" y="1691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Partner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657600" y="20574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57600" y="2468880"/>
            <a:ext cx="2194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restaurant dashboards tri-state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through POS partnerships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group enterprise deals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data licensing to delivery platforms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309360" y="1188720"/>
            <a:ext cx="256032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309360" y="1188720"/>
            <a:ext cx="2560320" cy="73152"/>
          </a:xfrm>
          <a:prstGeom prst="rect">
            <a:avLst/>
          </a:prstGeom>
          <a:solidFill>
            <a:srgbClr val="7C5CFC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0" y="1417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5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92240" y="1691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Platform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492240" y="20574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2028-2029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92240" y="2468880"/>
            <a:ext cx="2194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 restaurant dashboards nationally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in POS workflows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data licensing at scale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standard for dish analytics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6576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Traction &amp; Milestones</a:t>
            </a:r>
            <a:endParaRPr lang="en-US" sz="3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45720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114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built. Restaurants are asking for this.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0" y="1188720"/>
            <a:ext cx="3200400" cy="530352"/>
          </a:xfrm>
          <a:prstGeom prst="rect">
            <a:avLst/>
          </a:prstGeom>
          <a:solidFill>
            <a:srgbClr val="242955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0" y="1234440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2,490+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858000" y="123444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Dishes Scored Across 9 Verticals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0" y="1847088"/>
            <a:ext cx="3200400" cy="530352"/>
          </a:xfrm>
          <a:prstGeom prst="rect">
            <a:avLst/>
          </a:prstGeom>
          <a:solidFill>
            <a:srgbClr val="242955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0" y="1892808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858000" y="1892808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App on App Store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86400" y="2505456"/>
            <a:ext cx="3200400" cy="530352"/>
          </a:xfrm>
          <a:prstGeom prst="rect">
            <a:avLst/>
          </a:prstGeom>
          <a:solidFill>
            <a:srgbClr val="242955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0" y="2551176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93K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858000" y="2551176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Production Code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0" y="3163824"/>
            <a:ext cx="3200400" cy="530352"/>
          </a:xfrm>
          <a:prstGeom prst="rect">
            <a:avLst/>
          </a:prstGeom>
          <a:solidFill>
            <a:srgbClr val="242955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0" y="3209544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Patent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858000" y="3209544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on Scoring Algorithm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0" y="3822192"/>
            <a:ext cx="3200400" cy="530352"/>
          </a:xfrm>
          <a:prstGeom prst="rect">
            <a:avLst/>
          </a:prstGeom>
          <a:solidFill>
            <a:srgbClr val="242955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0" y="3867912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$500/mo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858000" y="386791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Dashboard Pricing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657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Team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92024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417320"/>
            <a:ext cx="914400" cy="914400"/>
          </a:xfrm>
          <a:prstGeom prst="ellipse">
            <a:avLst/>
          </a:prstGeom>
          <a:solidFill>
            <a:srgbClr val="1A1F3D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4173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94360" y="24688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Nik Amin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2788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 &amp; Co-Founder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31546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 Area, Full-Stack Engineering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entire platform end-to-end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606040" y="1188720"/>
            <a:ext cx="192024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08960" y="1417320"/>
            <a:ext cx="914400" cy="914400"/>
          </a:xfrm>
          <a:prstGeom prst="ellipse">
            <a:avLst/>
          </a:prstGeom>
          <a:solidFill>
            <a:srgbClr val="1A1F3D"/>
          </a:solidFill>
          <a:ln/>
        </p:spPr>
      </p:sp>
      <p:sp>
        <p:nvSpPr>
          <p:cNvPr id="12" name="Text 10"/>
          <p:cNvSpPr/>
          <p:nvPr/>
        </p:nvSpPr>
        <p:spPr>
          <a:xfrm>
            <a:off x="3108960" y="14173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743200" y="24688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 Mabsoute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743200" y="2788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CMO &amp; Co-Founder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743200" y="31546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UPenn, Hyatt Hotels alumni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years in Philadelphia restaurant scene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754880" y="1188720"/>
            <a:ext cx="192024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257800" y="1417320"/>
            <a:ext cx="914400" cy="914400"/>
          </a:xfrm>
          <a:prstGeom prst="ellipse">
            <a:avLst/>
          </a:prstGeom>
          <a:solidFill>
            <a:srgbClr val="1A1F3D"/>
          </a:solidFill>
          <a:ln/>
        </p:spPr>
      </p:sp>
      <p:sp>
        <p:nvSpPr>
          <p:cNvPr id="18" name="Text 16"/>
          <p:cNvSpPr/>
          <p:nvPr/>
        </p:nvSpPr>
        <p:spPr>
          <a:xfrm>
            <a:off x="5257800" y="14173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/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4892040" y="24688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/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92040" y="2788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92040" y="31546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903720" y="1188720"/>
            <a:ext cx="192024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406640" y="1417320"/>
            <a:ext cx="914400" cy="914400"/>
          </a:xfrm>
          <a:prstGeom prst="ellipse">
            <a:avLst/>
          </a:prstGeom>
          <a:solidFill>
            <a:srgbClr val="1A1F3D"/>
          </a:solidFill>
          <a:ln/>
        </p:spPr>
      </p:sp>
      <p:sp>
        <p:nvSpPr>
          <p:cNvPr id="24" name="Text 22"/>
          <p:cNvSpPr/>
          <p:nvPr/>
        </p:nvSpPr>
        <p:spPr>
          <a:xfrm>
            <a:off x="7406640" y="14173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/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7040880" y="24688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/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040880" y="2788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040880" y="31546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0080" y="44805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Advisors include restaurant operators, POS integration experts, and food industry data scientists.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6576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Financial Projections</a:t>
            </a:r>
            <a:endParaRPr lang="en-US" sz="3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097280"/>
          <a:ext cx="50292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760720" y="1280160"/>
            <a:ext cx="13716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760720" y="135331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$120K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760720" y="17556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ARR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5760720" y="2286000"/>
            <a:ext cx="13716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760720" y="2359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$1.2M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760720" y="27614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ARR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5760720" y="3291840"/>
            <a:ext cx="13716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5760720" y="336499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$18M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760720" y="37673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2029 ARR (Target)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7315200" y="1280160"/>
            <a:ext cx="13716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315200" y="135331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75%+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7315200" y="17556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(SaaS)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7315200" y="2286000"/>
            <a:ext cx="13716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7315200" y="2359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months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7315200" y="27614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Payback (B2B)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7315200" y="3291840"/>
            <a:ext cx="13716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7315200" y="336499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8x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7315200" y="37673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LTV:CAC Ratio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640080" y="42976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SaaS unit economics  |  Restaurant dashboards are high-margin recurring revenue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4114800" y="3474720"/>
            <a:ext cx="4572000" cy="4572000"/>
          </a:xfrm>
          <a:prstGeom prst="ellipse">
            <a:avLst/>
          </a:prstGeom>
          <a:solidFill>
            <a:srgbClr val="FF6B6B">
              <a:alpha val="8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Ask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$500K - $1.5M Seed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$3M-$6M pre-money valuation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892A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of Funds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200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40%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40080" y="3657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Engineering &amp; AI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3931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dashboard, POS integrations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697480" y="3200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25%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697480" y="3657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Growth &amp; Marketing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697480" y="3931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sales, case studies, events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754880" y="3200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20%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754880" y="3657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Business Development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54880" y="3931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 partnerships, chain restaurant deals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812280" y="3200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15%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812280" y="3657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12280" y="3931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Legal, IP, compliance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40080" y="4434840"/>
            <a:ext cx="7772400" cy="0"/>
          </a:xfrm>
          <a:prstGeom prst="line">
            <a:avLst/>
          </a:prstGeom>
          <a:noFill/>
          <a:ln w="12700">
            <a:solidFill>
              <a:srgbClr val="3A407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5262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nik@tastyiq.com  |  tastyiq.com  |  The dish analytics platform restaurants have been waiting for.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Locale — Pitch Deck</dc:title>
  <dc:subject>PptxGenJS Presentation</dc:subject>
  <dc:creator>Locale Team</dc:creator>
  <cp:lastModifiedBy>Locale Team</cp:lastModifiedBy>
  <cp:revision>1</cp:revision>
  <dcterms:created xsi:type="dcterms:W3CDTF">2026-03-22T05:18:41Z</dcterms:created>
  <dcterms:modified xsi:type="dcterms:W3CDTF">2026-03-22T05:18:41Z</dcterms:modified>
</cp:coreProperties>
</file>